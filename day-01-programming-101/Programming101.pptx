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x="18288000" cy="10287000"/>
  <p:notesSz cx="6858000" cy="9144000"/>
  <p:embeddedFontLst>
    <p:embeddedFont>
      <p:font typeface="IBM Plex Sans 1 Bold" charset="1" panose="020B0803050203000203"/>
      <p:regular r:id="rId82"/>
    </p:embeddedFont>
    <p:embeddedFont>
      <p:font typeface="IBM Plex Sans 1" charset="1" panose="020B0503050203000203"/>
      <p:regular r:id="rId83"/>
    </p:embeddedFont>
    <p:embeddedFont>
      <p:font typeface="IBM Plex Sans 2" charset="1" panose="020B0503050203000203"/>
      <p:regular r:id="rId84"/>
    </p:embeddedFont>
    <p:embeddedFont>
      <p:font typeface="Comic Sans Bold" charset="1" panose="03000902030302020204"/>
      <p:regular r:id="rId85"/>
    </p:embeddedFont>
    <p:embeddedFont>
      <p:font typeface="Comic Sans" charset="1" panose="03000702030302020204"/>
      <p:regular r:id="rId86"/>
    </p:embeddedFont>
    <p:embeddedFont>
      <p:font typeface="Courier New Bold" charset="1" panose="02070609020205020404"/>
      <p:regular r:id="rId87"/>
    </p:embeddedFont>
    <p:embeddedFont>
      <p:font typeface="Courier New" charset="1" panose="02070309020205020404"/>
      <p:regular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fonts/font82.fntdata" Type="http://schemas.openxmlformats.org/officeDocument/2006/relationships/font"/><Relationship Id="rId83" Target="fonts/font83.fntdata" Type="http://schemas.openxmlformats.org/officeDocument/2006/relationships/font"/><Relationship Id="rId84" Target="fonts/font84.fntdata" Type="http://schemas.openxmlformats.org/officeDocument/2006/relationships/font"/><Relationship Id="rId85" Target="fonts/font85.fntdata" Type="http://schemas.openxmlformats.org/officeDocument/2006/relationships/font"/><Relationship Id="rId86" Target="fonts/font86.fntdata" Type="http://schemas.openxmlformats.org/officeDocument/2006/relationships/font"/><Relationship Id="rId87" Target="fonts/font87.fntdata" Type="http://schemas.openxmlformats.org/officeDocument/2006/relationships/font"/><Relationship Id="rId88" Target="fonts/font88.fntdata" Type="http://schemas.openxmlformats.org/officeDocument/2006/relationships/font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46987" y="3309163"/>
            <a:ext cx="9357942" cy="421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8"/>
              </a:lnSpc>
            </a:pPr>
            <a:r>
              <a:rPr lang="en-US" b="true" sz="9005" spc="-117">
                <a:solidFill>
                  <a:srgbClr val="222222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Who</a:t>
            </a:r>
            <a:r>
              <a:rPr lang="en-US" b="true" sz="9005" spc="-117">
                <a:solidFill>
                  <a:srgbClr val="FFFFFF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 </a:t>
            </a:r>
            <a:r>
              <a:rPr lang="en-US" b="true" sz="9005" spc="-117">
                <a:solidFill>
                  <a:srgbClr val="222222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was</a:t>
            </a:r>
            <a:r>
              <a:rPr lang="en-US" b="true" sz="9005" spc="-117">
                <a:solidFill>
                  <a:srgbClr val="FFFFFF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 </a:t>
            </a:r>
            <a:r>
              <a:rPr lang="en-US" b="true" sz="9005" spc="-117">
                <a:solidFill>
                  <a:srgbClr val="222222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the </a:t>
            </a:r>
            <a:r>
              <a:rPr lang="en-US" b="true" sz="9005" spc="-117">
                <a:solidFill>
                  <a:srgbClr val="D9691E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first</a:t>
            </a:r>
            <a:r>
              <a:rPr lang="en-US" b="true" sz="9005" spc="-117">
                <a:solidFill>
                  <a:srgbClr val="FFFFFF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 </a:t>
            </a:r>
            <a:r>
              <a:rPr lang="en-US" b="true" sz="9005" spc="-117">
                <a:solidFill>
                  <a:srgbClr val="D9691E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programmer </a:t>
            </a:r>
            <a:r>
              <a:rPr lang="en-US" b="true" sz="9005" spc="-117">
                <a:solidFill>
                  <a:srgbClr val="222222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in</a:t>
            </a:r>
            <a:r>
              <a:rPr lang="en-US" b="true" sz="9005" spc="-117">
                <a:solidFill>
                  <a:srgbClr val="FFFFFF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 </a:t>
            </a:r>
            <a:r>
              <a:rPr lang="en-US" b="true" sz="9005" spc="-117">
                <a:solidFill>
                  <a:srgbClr val="222222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history?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61201" y="9860015"/>
            <a:ext cx="1849415" cy="314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1" spc="-9">
                <a:solidFill>
                  <a:srgbClr val="777777"/>
                </a:solidFill>
                <a:latin typeface="IBM Plex Sans 1"/>
                <a:ea typeface="IBM Plex Sans 1"/>
                <a:cs typeface="IBM Plex Sans 1"/>
                <a:sym typeface="IBM Plex Sans 1"/>
              </a:rPr>
              <a:t>Programming</a:t>
            </a:r>
            <a:r>
              <a:rPr lang="en-US" sz="1801" spc="-9">
                <a:solidFill>
                  <a:srgbClr val="FFFFFF"/>
                </a:solidFill>
                <a:latin typeface="IBM Plex Sans 1"/>
                <a:ea typeface="IBM Plex Sans 1"/>
                <a:cs typeface="IBM Plex Sans 1"/>
                <a:sym typeface="IBM Plex Sans 1"/>
              </a:rPr>
              <a:t> </a:t>
            </a:r>
            <a:r>
              <a:rPr lang="en-US" sz="1801" spc="-9">
                <a:solidFill>
                  <a:srgbClr val="777777"/>
                </a:solidFill>
                <a:latin typeface="IBM Plex Sans 1"/>
                <a:ea typeface="IBM Plex Sans 1"/>
                <a:cs typeface="IBM Plex Sans 1"/>
                <a:sym typeface="IBM Plex Sans 1"/>
              </a:rPr>
              <a:t>101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866701" y="9860015"/>
            <a:ext cx="129719" cy="314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1" spc="-9">
                <a:solidFill>
                  <a:srgbClr val="777777"/>
                </a:solidFill>
                <a:latin typeface="IBM Plex Sans 1"/>
                <a:ea typeface="IBM Plex Sans 1"/>
                <a:cs typeface="IBM Plex Sans 1"/>
                <a:sym typeface="IBM Plex Sans 1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IBM Plex Sans 2"/>
                  <a:ea typeface="IBM Plex Sans 2"/>
                  <a:cs typeface="IBM Plex Sans 2"/>
                  <a:sym typeface="IBM Plex Sans 2"/>
                </a:rPr>
                <a:t>Programming 101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IBM Plex Sans 2"/>
                  <a:ea typeface="IBM Plex Sans 2"/>
                  <a:cs typeface="IBM Plex Sans 2"/>
                  <a:sym typeface="IBM Plex Sans 2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2340" y="1798447"/>
            <a:ext cx="4663440" cy="5679729"/>
            <a:chOff x="0" y="0"/>
            <a:chExt cx="6217920" cy="7572972"/>
          </a:xfrm>
        </p:grpSpPr>
        <p:sp>
          <p:nvSpPr>
            <p:cNvPr name="Freeform 9" id="9" descr="ada.png"/>
            <p:cNvSpPr/>
            <p:nvPr/>
          </p:nvSpPr>
          <p:spPr>
            <a:xfrm flipH="false" flipV="false" rot="0">
              <a:off x="0" y="0"/>
              <a:ext cx="6217920" cy="7573010"/>
            </a:xfrm>
            <a:custGeom>
              <a:avLst/>
              <a:gdLst/>
              <a:ahLst/>
              <a:cxnLst/>
              <a:rect r="r" b="b" t="t" l="l"/>
              <a:pathLst>
                <a:path h="757301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573010"/>
                  </a:lnTo>
                  <a:lnTo>
                    <a:pt x="0" y="7573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3044" y="8092440"/>
            <a:ext cx="4663440" cy="411480"/>
            <a:chOff x="0" y="0"/>
            <a:chExt cx="621792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97" r="0" b="-1791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2179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7777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Ada Lovelace, 1815–1852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09360" y="822960"/>
            <a:ext cx="11247120" cy="1347192"/>
            <a:chOff x="0" y="0"/>
            <a:chExt cx="14996160" cy="17962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6161" cy="1796256"/>
            </a:xfrm>
            <a:custGeom>
              <a:avLst/>
              <a:gdLst/>
              <a:ahLst/>
              <a:cxnLst/>
              <a:rect r="r" b="b" t="t" l="l"/>
              <a:pathLst>
                <a:path h="1796256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796256"/>
                  </a:lnTo>
                  <a:lnTo>
                    <a:pt x="0" y="17962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856" r="0" b="-1084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996160" cy="1796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Ada </a:t>
              </a:r>
              <a:r>
                <a:rPr lang="en-US" sz="66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Lovelace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09360" y="2057400"/>
            <a:ext cx="11247120" cy="548640"/>
            <a:chOff x="0" y="0"/>
            <a:chExt cx="149961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4996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Mathematician. Author of the first published algorithm.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44159" y="3480715"/>
            <a:ext cx="2739543" cy="1831835"/>
            <a:chOff x="0" y="0"/>
            <a:chExt cx="3652723" cy="24424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2723" cy="2442446"/>
            </a:xfrm>
            <a:custGeom>
              <a:avLst/>
              <a:gdLst/>
              <a:ahLst/>
              <a:cxnLst/>
              <a:rect r="r" b="b" t="t" l="l"/>
              <a:pathLst>
                <a:path h="2442446" w="3652723">
                  <a:moveTo>
                    <a:pt x="0" y="122207"/>
                  </a:moveTo>
                  <a:cubicBezTo>
                    <a:pt x="0" y="54744"/>
                    <a:pt x="88460" y="0"/>
                    <a:pt x="197470" y="0"/>
                  </a:cubicBezTo>
                  <a:lnTo>
                    <a:pt x="3455253" y="0"/>
                  </a:lnTo>
                  <a:cubicBezTo>
                    <a:pt x="3564263" y="0"/>
                    <a:pt x="3652723" y="54744"/>
                    <a:pt x="3652723" y="122207"/>
                  </a:cubicBezTo>
                  <a:lnTo>
                    <a:pt x="3652723" y="2320240"/>
                  </a:lnTo>
                  <a:cubicBezTo>
                    <a:pt x="3652723" y="2387702"/>
                    <a:pt x="3564263" y="2442446"/>
                    <a:pt x="3455253" y="2442446"/>
                  </a:cubicBezTo>
                  <a:lnTo>
                    <a:pt x="197470" y="2442446"/>
                  </a:lnTo>
                  <a:cubicBezTo>
                    <a:pt x="88460" y="2442446"/>
                    <a:pt x="0" y="2387702"/>
                    <a:pt x="0" y="2320240"/>
                  </a:cubicBezTo>
                  <a:close/>
                </a:path>
              </a:pathLst>
            </a:custGeom>
            <a:solidFill>
              <a:srgbClr val="F6F3EE"/>
            </a:solidFill>
            <a:ln w="19050" cap="sq">
              <a:solidFill>
                <a:srgbClr val="E2DDD5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652723" cy="244244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1834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Analytical Engine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Babbage designs a general-purpose mechanical computer.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09489" y="3480715"/>
            <a:ext cx="2891021" cy="1812797"/>
            <a:chOff x="0" y="0"/>
            <a:chExt cx="3408680" cy="21373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08680" cy="2137392"/>
            </a:xfrm>
            <a:custGeom>
              <a:avLst/>
              <a:gdLst/>
              <a:ahLst/>
              <a:cxnLst/>
              <a:rect r="r" b="b" t="t" l="l"/>
              <a:pathLst>
                <a:path h="2137392" w="3408680">
                  <a:moveTo>
                    <a:pt x="0" y="106943"/>
                  </a:moveTo>
                  <a:cubicBezTo>
                    <a:pt x="0" y="47907"/>
                    <a:pt x="82550" y="0"/>
                    <a:pt x="184277" y="0"/>
                  </a:cubicBezTo>
                  <a:lnTo>
                    <a:pt x="3224403" y="0"/>
                  </a:lnTo>
                  <a:cubicBezTo>
                    <a:pt x="3326130" y="0"/>
                    <a:pt x="3408680" y="47907"/>
                    <a:pt x="3408680" y="106943"/>
                  </a:cubicBezTo>
                  <a:lnTo>
                    <a:pt x="3408680" y="2030449"/>
                  </a:lnTo>
                  <a:cubicBezTo>
                    <a:pt x="3408680" y="2089485"/>
                    <a:pt x="3326130" y="2137392"/>
                    <a:pt x="3224403" y="2137392"/>
                  </a:cubicBezTo>
                  <a:lnTo>
                    <a:pt x="184277" y="2137392"/>
                  </a:lnTo>
                  <a:cubicBezTo>
                    <a:pt x="82550" y="2137392"/>
                    <a:pt x="0" y="2089485"/>
                    <a:pt x="0" y="2030449"/>
                  </a:cubicBezTo>
                  <a:close/>
                </a:path>
              </a:pathLst>
            </a:custGeom>
            <a:solidFill>
              <a:srgbClr val="F6F3EE"/>
            </a:solidFill>
            <a:ln w="19050" cap="sq">
              <a:solidFill>
                <a:srgbClr val="E2DDD5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408680" cy="2137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1842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Menabrea’s paper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An article describing how the engine would work.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45328" y="3499002"/>
            <a:ext cx="2556510" cy="1794510"/>
            <a:chOff x="0" y="0"/>
            <a:chExt cx="3408680" cy="2392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08680" cy="2392680"/>
            </a:xfrm>
            <a:custGeom>
              <a:avLst/>
              <a:gdLst/>
              <a:ahLst/>
              <a:cxnLst/>
              <a:rect r="r" b="b" t="t" l="l"/>
              <a:pathLst>
                <a:path h="2392680" w="3408680">
                  <a:moveTo>
                    <a:pt x="0" y="119717"/>
                  </a:moveTo>
                  <a:cubicBezTo>
                    <a:pt x="0" y="53629"/>
                    <a:pt x="82550" y="0"/>
                    <a:pt x="184277" y="0"/>
                  </a:cubicBezTo>
                  <a:lnTo>
                    <a:pt x="3224403" y="0"/>
                  </a:lnTo>
                  <a:cubicBezTo>
                    <a:pt x="3326130" y="0"/>
                    <a:pt x="3408680" y="53629"/>
                    <a:pt x="3408680" y="119717"/>
                  </a:cubicBezTo>
                  <a:lnTo>
                    <a:pt x="3408680" y="2272963"/>
                  </a:lnTo>
                  <a:cubicBezTo>
                    <a:pt x="3408680" y="2339051"/>
                    <a:pt x="3326130" y="2392680"/>
                    <a:pt x="3224403" y="2392680"/>
                  </a:cubicBezTo>
                  <a:lnTo>
                    <a:pt x="184277" y="2392680"/>
                  </a:lnTo>
                  <a:cubicBezTo>
                    <a:pt x="82550" y="2392680"/>
                    <a:pt x="0" y="2339051"/>
                    <a:pt x="0" y="2272963"/>
                  </a:cubicBezTo>
                  <a:close/>
                </a:path>
              </a:pathLst>
            </a:custGeom>
            <a:solidFill>
              <a:srgbClr val="F6F3EE"/>
            </a:solidFill>
            <a:ln w="19050" cap="sq">
              <a:solidFill>
                <a:srgbClr val="E2DDD5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408680" cy="23926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1843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Ada’s Notes A–G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She translates it, then adds notes three times longer.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999970" y="3518039"/>
            <a:ext cx="2556510" cy="1794510"/>
            <a:chOff x="0" y="0"/>
            <a:chExt cx="3408680" cy="2392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08680" cy="2392680"/>
            </a:xfrm>
            <a:custGeom>
              <a:avLst/>
              <a:gdLst/>
              <a:ahLst/>
              <a:cxnLst/>
              <a:rect r="r" b="b" t="t" l="l"/>
              <a:pathLst>
                <a:path h="2392680" w="3408680">
                  <a:moveTo>
                    <a:pt x="0" y="119717"/>
                  </a:moveTo>
                  <a:cubicBezTo>
                    <a:pt x="0" y="53629"/>
                    <a:pt x="82550" y="0"/>
                    <a:pt x="184277" y="0"/>
                  </a:cubicBezTo>
                  <a:lnTo>
                    <a:pt x="3224403" y="0"/>
                  </a:lnTo>
                  <a:cubicBezTo>
                    <a:pt x="3326130" y="0"/>
                    <a:pt x="3408680" y="53629"/>
                    <a:pt x="3408680" y="119717"/>
                  </a:cubicBezTo>
                  <a:lnTo>
                    <a:pt x="3408680" y="2272963"/>
                  </a:lnTo>
                  <a:cubicBezTo>
                    <a:pt x="3408680" y="2339051"/>
                    <a:pt x="3326130" y="2392680"/>
                    <a:pt x="3224403" y="2392680"/>
                  </a:cubicBezTo>
                  <a:lnTo>
                    <a:pt x="184277" y="2392680"/>
                  </a:lnTo>
                  <a:cubicBezTo>
                    <a:pt x="82550" y="2392680"/>
                    <a:pt x="0" y="2339051"/>
                    <a:pt x="0" y="2272963"/>
                  </a:cubicBezTo>
                  <a:close/>
                </a:path>
              </a:pathLst>
            </a:custGeom>
            <a:solidFill>
              <a:srgbClr val="CB6F34"/>
            </a:solidFill>
            <a:ln w="19050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408680" cy="23926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1843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Note G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step-by-step algorithm for Bernoulli numbers.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09360" y="6377940"/>
            <a:ext cx="11247120" cy="1714500"/>
            <a:chOff x="0" y="0"/>
            <a:chExt cx="14996160" cy="228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996161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996161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813280" y="0"/>
                  </a:lnTo>
                  <a:cubicBezTo>
                    <a:pt x="14914245" y="0"/>
                    <a:pt x="14996161" y="81915"/>
                    <a:pt x="14996161" y="182880"/>
                  </a:cubicBezTo>
                  <a:lnTo>
                    <a:pt x="14996161" y="2103120"/>
                  </a:lnTo>
                  <a:cubicBezTo>
                    <a:pt x="14996161" y="2204085"/>
                    <a:pt x="14914245" y="2286000"/>
                    <a:pt x="14813280" y="2286000"/>
                  </a:cubicBezTo>
                  <a:lnTo>
                    <a:pt x="182880" y="2286000"/>
                  </a:lnTo>
                  <a:cubicBezTo>
                    <a:pt x="81915" y="2286000"/>
                    <a:pt x="0" y="2204085"/>
                    <a:pt x="0" y="2103120"/>
                  </a:cubicBezTo>
                  <a:close/>
                </a:path>
              </a:pathLst>
            </a:custGeom>
            <a:solidFill>
              <a:srgbClr val="222222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499616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program for a machine that </a:t>
              </a:r>
              <a:r>
                <a:rPr lang="en-US" sz="3600" b="true">
                  <a:solidFill>
                    <a:srgbClr val="F0A070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didn’t exist.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9C9C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About 100 years before the first electronic computers.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09360" y="8503920"/>
            <a:ext cx="11247120" cy="548640"/>
            <a:chOff x="0" y="0"/>
            <a:chExt cx="149961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996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4996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7777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She also saw that machines could work on symbols, not just numbers. Music included.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IBM Plex Sans 2"/>
                  <a:ea typeface="IBM Plex Sans 2"/>
                  <a:cs typeface="IBM Plex Sans 2"/>
                  <a:sym typeface="IBM Plex Sans 2"/>
                </a:rPr>
                <a:t>Programming 101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IBM Plex Sans 2"/>
                  <a:ea typeface="IBM Plex Sans 2"/>
                  <a:cs typeface="IBM Plex Sans 2"/>
                  <a:sym typeface="IBM Plex Sans 2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6047720" cy="1234440"/>
            <a:chOff x="0" y="0"/>
            <a:chExt cx="2139696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969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39696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Are coding and programming </a:t>
              </a:r>
              <a:r>
                <a:rPr lang="en-US" sz="51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same?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2194560"/>
            <a:ext cx="10972800" cy="922437"/>
            <a:chOff x="0" y="0"/>
            <a:chExt cx="14630400" cy="12299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1229916"/>
            </a:xfrm>
            <a:custGeom>
              <a:avLst/>
              <a:gdLst/>
              <a:ahLst/>
              <a:cxnLst/>
              <a:rect r="r" b="b" t="t" l="l"/>
              <a:pathLst>
                <a:path h="12299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29916"/>
                  </a:lnTo>
                  <a:lnTo>
                    <a:pt x="0" y="1229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175" r="0" b="-1763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630400" cy="12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Not quite.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3291840"/>
            <a:ext cx="12344400" cy="548640"/>
            <a:chOff x="0" y="0"/>
            <a:chExt cx="16459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Coding is one step inside programming.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5374" y="4171474"/>
            <a:ext cx="16112680" cy="4070033"/>
            <a:chOff x="0" y="0"/>
            <a:chExt cx="21483574" cy="5426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83574" cy="5426710"/>
            </a:xfrm>
            <a:custGeom>
              <a:avLst/>
              <a:gdLst/>
              <a:ahLst/>
              <a:cxnLst/>
              <a:rect r="r" b="b" t="t" l="l"/>
              <a:pathLst>
                <a:path h="5426710" w="21483574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21262848" y="0"/>
                  </a:lnTo>
                  <a:cubicBezTo>
                    <a:pt x="21384768" y="0"/>
                    <a:pt x="21483574" y="98806"/>
                    <a:pt x="21483574" y="220726"/>
                  </a:cubicBezTo>
                  <a:lnTo>
                    <a:pt x="21483574" y="5205984"/>
                  </a:lnTo>
                  <a:cubicBezTo>
                    <a:pt x="21483574" y="5327904"/>
                    <a:pt x="21384768" y="5426710"/>
                    <a:pt x="21262848" y="5426710"/>
                  </a:cubicBezTo>
                  <a:lnTo>
                    <a:pt x="220726" y="5426710"/>
                  </a:lnTo>
                  <a:cubicBezTo>
                    <a:pt x="98806" y="5426710"/>
                    <a:pt x="0" y="5327904"/>
                    <a:pt x="0" y="5205984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CB6F3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40180" y="4347972"/>
            <a:ext cx="6858000" cy="480060"/>
            <a:chOff x="0" y="0"/>
            <a:chExt cx="91440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599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PROGRAMMING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6939" y="5065395"/>
            <a:ext cx="3516630" cy="2076450"/>
            <a:chOff x="0" y="0"/>
            <a:chExt cx="4688840" cy="2768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8884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6888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504309" y="0"/>
                  </a:lnTo>
                  <a:cubicBezTo>
                    <a:pt x="4606290" y="0"/>
                    <a:pt x="4688840" y="82677"/>
                    <a:pt x="4688840" y="184531"/>
                  </a:cubicBezTo>
                  <a:lnTo>
                    <a:pt x="4688840" y="2584069"/>
                  </a:lnTo>
                  <a:cubicBezTo>
                    <a:pt x="4688840" y="2686050"/>
                    <a:pt x="4606163" y="2768600"/>
                    <a:pt x="450430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6F3EE"/>
            </a:solidFill>
            <a:ln w="19050" cap="sq">
              <a:solidFill>
                <a:srgbClr val="E2DDD5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688840" cy="27686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Understand the problem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exactly needs solving?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94579" y="5065395"/>
            <a:ext cx="3516630" cy="2076450"/>
            <a:chOff x="0" y="0"/>
            <a:chExt cx="4688840" cy="2768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8884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6888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504309" y="0"/>
                  </a:lnTo>
                  <a:cubicBezTo>
                    <a:pt x="4606290" y="0"/>
                    <a:pt x="4688840" y="82677"/>
                    <a:pt x="4688840" y="184531"/>
                  </a:cubicBezTo>
                  <a:lnTo>
                    <a:pt x="4688840" y="2584069"/>
                  </a:lnTo>
                  <a:cubicBezTo>
                    <a:pt x="4688840" y="2686050"/>
                    <a:pt x="4606163" y="2768600"/>
                    <a:pt x="450430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6F3EE"/>
            </a:solidFill>
            <a:ln w="19050" cap="sq">
              <a:solidFill>
                <a:srgbClr val="E2DDD5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688840" cy="27686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Design the logic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Steps, decisions, data.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72219" y="5065395"/>
            <a:ext cx="3516630" cy="2076450"/>
            <a:chOff x="0" y="0"/>
            <a:chExt cx="4688840" cy="2768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8884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6888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504309" y="0"/>
                  </a:lnTo>
                  <a:cubicBezTo>
                    <a:pt x="4606290" y="0"/>
                    <a:pt x="4688840" y="82677"/>
                    <a:pt x="4688840" y="184531"/>
                  </a:cubicBezTo>
                  <a:lnTo>
                    <a:pt x="4688840" y="2584069"/>
                  </a:lnTo>
                  <a:cubicBezTo>
                    <a:pt x="4688840" y="2686050"/>
                    <a:pt x="4606163" y="2768600"/>
                    <a:pt x="450430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CB6F34"/>
            </a:solidFill>
            <a:ln w="19050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688840" cy="27686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Write the code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Express it in a language.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349859" y="5065395"/>
            <a:ext cx="3516630" cy="2076450"/>
            <a:chOff x="0" y="0"/>
            <a:chExt cx="4688840" cy="2768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8884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68884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504309" y="0"/>
                  </a:lnTo>
                  <a:cubicBezTo>
                    <a:pt x="4606290" y="0"/>
                    <a:pt x="4688840" y="82677"/>
                    <a:pt x="4688840" y="184531"/>
                  </a:cubicBezTo>
                  <a:lnTo>
                    <a:pt x="4688840" y="2584069"/>
                  </a:lnTo>
                  <a:cubicBezTo>
                    <a:pt x="4688840" y="2686050"/>
                    <a:pt x="4606163" y="2768600"/>
                    <a:pt x="450430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6F3EE"/>
            </a:solidFill>
            <a:ln w="19050" cap="sq">
              <a:solidFill>
                <a:srgbClr val="E2DDD5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688840" cy="27686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22222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Test and debug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Does it really work? Fix it.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81744" y="7365492"/>
            <a:ext cx="3497580" cy="480060"/>
            <a:chOff x="0" y="0"/>
            <a:chExt cx="466344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63440" cy="640080"/>
            </a:xfrm>
            <a:custGeom>
              <a:avLst/>
              <a:gdLst/>
              <a:ahLst/>
              <a:cxnLst/>
              <a:rect r="r" b="b" t="t" l="l"/>
              <a:pathLst>
                <a:path h="6400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6634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599">
                  <a:solidFill>
                    <a:srgbClr val="CB6F34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CODING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8641080"/>
            <a:ext cx="16088868" cy="548640"/>
            <a:chOff x="0" y="0"/>
            <a:chExt cx="21451824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45182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Ada’s Note G was all design and logic, with no programming language yet to write it in.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 · THINK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Algorithms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Solve it in plain steps before you touch any code.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 · STORE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Data, variables, types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Where information lives, and what kind of thing it is.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40969" y="3336608"/>
            <a:ext cx="870585" cy="870585"/>
            <a:chOff x="0" y="0"/>
            <a:chExt cx="1160780" cy="116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47561" y="4800600"/>
            <a:ext cx="2057400" cy="548640"/>
            <a:chOff x="0" y="0"/>
            <a:chExt cx="2743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 · DECIDE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Operators, logic, control flow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Combine values, choose a path, repeat a task.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40969" y="3336608"/>
            <a:ext cx="870585" cy="870585"/>
            <a:chOff x="0" y="0"/>
            <a:chExt cx="1160780" cy="116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47561" y="4800600"/>
            <a:ext cx="2057400" cy="548640"/>
            <a:chOff x="0" y="0"/>
            <a:chExt cx="2743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37555" y="3748088"/>
            <a:ext cx="870585" cy="870585"/>
            <a:chOff x="0" y="0"/>
            <a:chExt cx="1160780" cy="11607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4147" y="4800600"/>
            <a:ext cx="2057400" cy="548640"/>
            <a:chOff x="0" y="0"/>
            <a:chExt cx="2743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 · REUSE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Functions and recursion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Name a piece of logic once, use it anywhere.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40969" y="3336608"/>
            <a:ext cx="870585" cy="870585"/>
            <a:chOff x="0" y="0"/>
            <a:chExt cx="1160780" cy="116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47561" y="4800600"/>
            <a:ext cx="2057400" cy="548640"/>
            <a:chOff x="0" y="0"/>
            <a:chExt cx="2743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37555" y="3748088"/>
            <a:ext cx="870585" cy="870585"/>
            <a:chOff x="0" y="0"/>
            <a:chExt cx="1160780" cy="11607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4147" y="4800600"/>
            <a:ext cx="2057400" cy="548640"/>
            <a:chOff x="0" y="0"/>
            <a:chExt cx="2743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4140" y="3336608"/>
            <a:ext cx="870585" cy="870585"/>
            <a:chOff x="0" y="0"/>
            <a:chExt cx="1160780" cy="11607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0733" y="4800600"/>
            <a:ext cx="2057400" cy="548640"/>
            <a:chOff x="0" y="0"/>
            <a:chExt cx="27432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 · ORGANIZE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Data structures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Shape your data so it is easy to work with.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40969" y="3336608"/>
            <a:ext cx="870585" cy="870585"/>
            <a:chOff x="0" y="0"/>
            <a:chExt cx="1160780" cy="116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47561" y="4800600"/>
            <a:ext cx="2057400" cy="548640"/>
            <a:chOff x="0" y="0"/>
            <a:chExt cx="2743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37555" y="3748088"/>
            <a:ext cx="870585" cy="870585"/>
            <a:chOff x="0" y="0"/>
            <a:chExt cx="1160780" cy="11607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4147" y="4800600"/>
            <a:ext cx="2057400" cy="548640"/>
            <a:chOff x="0" y="0"/>
            <a:chExt cx="2743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4140" y="3336608"/>
            <a:ext cx="870585" cy="870585"/>
            <a:chOff x="0" y="0"/>
            <a:chExt cx="1160780" cy="11607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0733" y="4800600"/>
            <a:ext cx="2057400" cy="548640"/>
            <a:chOff x="0" y="0"/>
            <a:chExt cx="27432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30726" y="3748088"/>
            <a:ext cx="870585" cy="870585"/>
            <a:chOff x="0" y="0"/>
            <a:chExt cx="1160780" cy="11607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6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237319" y="4800600"/>
            <a:ext cx="2057400" cy="548640"/>
            <a:chOff x="0" y="0"/>
            <a:chExt cx="27432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6 · TRUST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Errors, debugging, testing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Find what broke, then prove it works.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40969" y="3336608"/>
            <a:ext cx="870585" cy="870585"/>
            <a:chOff x="0" y="0"/>
            <a:chExt cx="1160780" cy="116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47561" y="4800600"/>
            <a:ext cx="2057400" cy="548640"/>
            <a:chOff x="0" y="0"/>
            <a:chExt cx="2743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37555" y="3748088"/>
            <a:ext cx="870585" cy="870585"/>
            <a:chOff x="0" y="0"/>
            <a:chExt cx="1160780" cy="11607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4147" y="4800600"/>
            <a:ext cx="2057400" cy="548640"/>
            <a:chOff x="0" y="0"/>
            <a:chExt cx="2743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4140" y="3336608"/>
            <a:ext cx="870585" cy="870585"/>
            <a:chOff x="0" y="0"/>
            <a:chExt cx="1160780" cy="11607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0733" y="4800600"/>
            <a:ext cx="2057400" cy="548640"/>
            <a:chOff x="0" y="0"/>
            <a:chExt cx="27432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30726" y="3748088"/>
            <a:ext cx="870585" cy="870585"/>
            <a:chOff x="0" y="0"/>
            <a:chExt cx="1160780" cy="11607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6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237319" y="4800600"/>
            <a:ext cx="2057400" cy="548640"/>
            <a:chOff x="0" y="0"/>
            <a:chExt cx="27432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927322" y="3336608"/>
            <a:ext cx="870585" cy="870585"/>
            <a:chOff x="0" y="0"/>
            <a:chExt cx="1160780" cy="11607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333914" y="4800600"/>
            <a:ext cx="2057400" cy="548640"/>
            <a:chOff x="0" y="0"/>
            <a:chExt cx="27432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7 · IMPROVE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Paradigms, efficiency, tools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Make it work well, not just work.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40969" y="3336608"/>
            <a:ext cx="870585" cy="870585"/>
            <a:chOff x="0" y="0"/>
            <a:chExt cx="1160780" cy="116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47561" y="4800600"/>
            <a:ext cx="2057400" cy="548640"/>
            <a:chOff x="0" y="0"/>
            <a:chExt cx="2743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37555" y="3748088"/>
            <a:ext cx="870585" cy="870585"/>
            <a:chOff x="0" y="0"/>
            <a:chExt cx="1160780" cy="11607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4147" y="4800600"/>
            <a:ext cx="2057400" cy="548640"/>
            <a:chOff x="0" y="0"/>
            <a:chExt cx="2743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4140" y="3336608"/>
            <a:ext cx="870585" cy="870585"/>
            <a:chOff x="0" y="0"/>
            <a:chExt cx="1160780" cy="11607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0733" y="4800600"/>
            <a:ext cx="2057400" cy="548640"/>
            <a:chOff x="0" y="0"/>
            <a:chExt cx="27432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30726" y="3748088"/>
            <a:ext cx="870585" cy="870585"/>
            <a:chOff x="0" y="0"/>
            <a:chExt cx="1160780" cy="11607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6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237319" y="4800600"/>
            <a:ext cx="2057400" cy="548640"/>
            <a:chOff x="0" y="0"/>
            <a:chExt cx="27432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927322" y="3336608"/>
            <a:ext cx="870585" cy="870585"/>
            <a:chOff x="0" y="0"/>
            <a:chExt cx="1160780" cy="11607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333914" y="4800600"/>
            <a:ext cx="2057400" cy="548640"/>
            <a:chOff x="0" y="0"/>
            <a:chExt cx="27432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023907" y="3748088"/>
            <a:ext cx="870585" cy="870585"/>
            <a:chOff x="0" y="0"/>
            <a:chExt cx="1160780" cy="11607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8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430500" y="4800600"/>
            <a:ext cx="2057400" cy="548640"/>
            <a:chOff x="0" y="0"/>
            <a:chExt cx="27432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BUILD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1477224" cy="433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8 · BUILD</a:t>
              </a:r>
            </a:p>
            <a:p>
              <a:pPr algn="l">
                <a:lnSpc>
                  <a:spcPts val="6839"/>
                </a:lnSpc>
              </a:pPr>
              <a:r>
                <a:rPr lang="en-US" b="true" sz="5700" spc="950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Putting it all together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small project, from idea to finish.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411480"/>
            <a:ext cx="10972800" cy="960120"/>
            <a:chOff x="0" y="0"/>
            <a:chExt cx="14630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Today’s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411480"/>
            <a:ext cx="6446520" cy="960120"/>
            <a:chOff x="0" y="0"/>
            <a:chExt cx="85953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From thinking to building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788" y="3336608"/>
            <a:ext cx="870585" cy="870585"/>
            <a:chOff x="0" y="0"/>
            <a:chExt cx="1160780" cy="116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4800600"/>
            <a:ext cx="2057400" cy="548640"/>
            <a:chOff x="0" y="0"/>
            <a:chExt cx="2743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373" y="3748088"/>
            <a:ext cx="870585" cy="870585"/>
            <a:chOff x="0" y="0"/>
            <a:chExt cx="1160780" cy="116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50966" y="4800600"/>
            <a:ext cx="2057400" cy="548640"/>
            <a:chOff x="0" y="0"/>
            <a:chExt cx="2743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40969" y="3336608"/>
            <a:ext cx="870585" cy="870585"/>
            <a:chOff x="0" y="0"/>
            <a:chExt cx="1160780" cy="116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47561" y="4800600"/>
            <a:ext cx="2057400" cy="548640"/>
            <a:chOff x="0" y="0"/>
            <a:chExt cx="2743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37555" y="3748088"/>
            <a:ext cx="870585" cy="870585"/>
            <a:chOff x="0" y="0"/>
            <a:chExt cx="1160780" cy="11607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4147" y="4800600"/>
            <a:ext cx="2057400" cy="548640"/>
            <a:chOff x="0" y="0"/>
            <a:chExt cx="2743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4140" y="3336608"/>
            <a:ext cx="870585" cy="870585"/>
            <a:chOff x="0" y="0"/>
            <a:chExt cx="1160780" cy="11607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0733" y="4800600"/>
            <a:ext cx="2057400" cy="548640"/>
            <a:chOff x="0" y="0"/>
            <a:chExt cx="27432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30726" y="3748088"/>
            <a:ext cx="870585" cy="870585"/>
            <a:chOff x="0" y="0"/>
            <a:chExt cx="1160780" cy="11607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6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237319" y="4800600"/>
            <a:ext cx="2057400" cy="548640"/>
            <a:chOff x="0" y="0"/>
            <a:chExt cx="27432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927322" y="3336608"/>
            <a:ext cx="870585" cy="870585"/>
            <a:chOff x="0" y="0"/>
            <a:chExt cx="1160780" cy="11607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263A5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333914" y="4800600"/>
            <a:ext cx="2057400" cy="548640"/>
            <a:chOff x="0" y="0"/>
            <a:chExt cx="27432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023907" y="3748088"/>
            <a:ext cx="870585" cy="870585"/>
            <a:chOff x="0" y="0"/>
            <a:chExt cx="1160780" cy="11607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60780" cy="1160780"/>
            </a:xfrm>
            <a:custGeom>
              <a:avLst/>
              <a:gdLst/>
              <a:ahLst/>
              <a:cxnLst/>
              <a:rect r="r" b="b" t="t" l="l"/>
              <a:pathLst>
                <a:path h="1160780" w="1160780">
                  <a:moveTo>
                    <a:pt x="0" y="580390"/>
                  </a:moveTo>
                  <a:cubicBezTo>
                    <a:pt x="0" y="259842"/>
                    <a:pt x="259842" y="0"/>
                    <a:pt x="580390" y="0"/>
                  </a:cubicBezTo>
                  <a:cubicBezTo>
                    <a:pt x="900938" y="0"/>
                    <a:pt x="1160780" y="259842"/>
                    <a:pt x="1160780" y="580390"/>
                  </a:cubicBezTo>
                  <a:cubicBezTo>
                    <a:pt x="1160780" y="900938"/>
                    <a:pt x="900938" y="1160780"/>
                    <a:pt x="580390" y="1160780"/>
                  </a:cubicBezTo>
                  <a:cubicBezTo>
                    <a:pt x="259842" y="1160780"/>
                    <a:pt x="0" y="900938"/>
                    <a:pt x="0" y="580390"/>
                  </a:cubicBezTo>
                  <a:close/>
                </a:path>
              </a:pathLst>
            </a:custGeom>
            <a:solidFill>
              <a:srgbClr val="CB6F3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160780" cy="116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8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430500" y="4800600"/>
            <a:ext cx="2057400" cy="548640"/>
            <a:chOff x="0" y="0"/>
            <a:chExt cx="27432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743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BUILD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7755" y="5819775"/>
            <a:ext cx="16107918" cy="3242310"/>
            <a:chOff x="0" y="0"/>
            <a:chExt cx="21477224" cy="4323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477224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47722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21201253" y="0"/>
                  </a:lnTo>
                  <a:cubicBezTo>
                    <a:pt x="21353653" y="0"/>
                    <a:pt x="21477224" y="123571"/>
                    <a:pt x="21477224" y="275971"/>
                  </a:cubicBezTo>
                  <a:lnTo>
                    <a:pt x="21477224" y="4047109"/>
                  </a:lnTo>
                  <a:cubicBezTo>
                    <a:pt x="21477224" y="4199509"/>
                    <a:pt x="21353653" y="4323080"/>
                    <a:pt x="21201253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1477224" cy="4323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No specific language today.</a:t>
              </a:r>
            </a:p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Languages are accents; the thinking is shared.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Warm-up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Before we write a single 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606040"/>
            <a:ext cx="10424160" cy="7376071"/>
            <a:chOff x="0" y="0"/>
            <a:chExt cx="13898880" cy="98347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880" cy="9834761"/>
            </a:xfrm>
            <a:custGeom>
              <a:avLst/>
              <a:gdLst/>
              <a:ahLst/>
              <a:cxnLst/>
              <a:rect r="r" b="b" t="t" l="l"/>
              <a:pathLst>
                <a:path h="9834761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9834761"/>
                  </a:lnTo>
                  <a:lnTo>
                    <a:pt x="0" y="98347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281" t="0" r="-24281" b="181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19075"/>
              <a:ext cx="13898880" cy="9615686"/>
            </a:xfrm>
            <a:prstGeom prst="rect">
              <a:avLst/>
            </a:prstGeom>
          </p:spPr>
          <p:txBody>
            <a:bodyPr anchor="ctr" rtlCol="false" tIns="381000" lIns="381000" bIns="381000" rIns="381000"/>
            <a:lstStyle/>
            <a:p>
              <a:pPr algn="l">
                <a:lnSpc>
                  <a:spcPts val="5610"/>
                </a:lnSpc>
              </a:pPr>
              <a:r>
                <a:rPr lang="en-US" b="true" sz="6600" spc="105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How do you tell a robot to make a cup of chiya?</a:t>
              </a:r>
            </a:p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  <a:r>
                <a:rPr lang="en-US" b="true" sz="3600" spc="7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It does exactly what you say. Nothing more.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07240" y="2606040"/>
            <a:ext cx="5349240" cy="5349240"/>
            <a:chOff x="0" y="0"/>
            <a:chExt cx="7132320" cy="7132320"/>
          </a:xfrm>
        </p:grpSpPr>
        <p:sp>
          <p:nvSpPr>
            <p:cNvPr name="Freeform 14" id="14" descr="cup.png"/>
            <p:cNvSpPr/>
            <p:nvPr/>
          </p:nvSpPr>
          <p:spPr>
            <a:xfrm flipH="false" flipV="false" rot="0">
              <a:off x="0" y="0"/>
              <a:ext cx="71323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132320"/>
                  </a:lnTo>
                  <a:lnTo>
                    <a:pt x="0" y="713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So what is programming?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2263140"/>
            <a:ext cx="9052560" cy="1234440"/>
            <a:chOff x="0" y="0"/>
            <a:chExt cx="1207008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0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20700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Algorithms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61320" y="2263140"/>
            <a:ext cx="6858000" cy="1234440"/>
            <a:chOff x="0" y="0"/>
            <a:chExt cx="914400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1440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steps you design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3703320"/>
            <a:ext cx="9052560" cy="1234440"/>
            <a:chOff x="0" y="0"/>
            <a:chExt cx="1207008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070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20700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263A5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+ Data Structures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561320" y="3703320"/>
            <a:ext cx="6858000" cy="1234440"/>
            <a:chOff x="0" y="0"/>
            <a:chExt cx="914400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1440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information they work 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5143500"/>
            <a:ext cx="9052560" cy="1234440"/>
            <a:chOff x="0" y="0"/>
            <a:chExt cx="1207008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070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20700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= Programs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61320" y="5143500"/>
            <a:ext cx="6858000" cy="1234440"/>
            <a:chOff x="0" y="0"/>
            <a:chExt cx="9144000" cy="1645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91440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a machine can run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440" y="6858000"/>
            <a:ext cx="16047720" cy="1234440"/>
            <a:chOff x="0" y="0"/>
            <a:chExt cx="2139696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3969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139696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Programming is not typing code. </a:t>
              </a:r>
              <a:r>
                <a:rPr lang="en-US" sz="39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It is designing the steps and the data.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8915400"/>
            <a:ext cx="16047720" cy="480060"/>
            <a:chOff x="0" y="0"/>
            <a:chExt cx="2139696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396961" cy="640080"/>
            </a:xfrm>
            <a:custGeom>
              <a:avLst/>
              <a:gdLst/>
              <a:ahLst/>
              <a:cxnLst/>
              <a:rect r="r" b="b" t="t" l="l"/>
              <a:pathLst>
                <a:path h="6400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56" r="0" b="-60135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3969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Wirth, N. (1976). Algorithms + Data Structures = Programs. Prentice-Hall.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Algorithms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What is an algorithm?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22960"/>
            <a:chOff x="0" y="0"/>
            <a:chExt cx="54864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Algorithm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22960"/>
            <a:chOff x="0" y="0"/>
            <a:chExt cx="157276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finite list of clear, precise steps that turns input into output.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9042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909060"/>
            <a:ext cx="4114800" cy="822960"/>
            <a:chOff x="0" y="0"/>
            <a:chExt cx="548640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Problem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909060"/>
            <a:ext cx="11795760" cy="822960"/>
            <a:chOff x="0" y="0"/>
            <a:chExt cx="157276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to solve: the input you get, the output you need.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7272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732020"/>
            <a:ext cx="4114800" cy="822960"/>
            <a:chOff x="0" y="0"/>
            <a:chExt cx="548640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Program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732020"/>
            <a:ext cx="11795760" cy="822960"/>
            <a:chOff x="0" y="0"/>
            <a:chExt cx="157276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way of writing the algorithm for a machine.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5502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554980"/>
            <a:ext cx="4114800" cy="822960"/>
            <a:chOff x="0" y="0"/>
            <a:chExt cx="54864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Correct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554980"/>
            <a:ext cx="11795760" cy="822960"/>
            <a:chOff x="0" y="0"/>
            <a:chExt cx="157276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Gives the right output for every valid input.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3731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377940"/>
            <a:ext cx="4114800" cy="822960"/>
            <a:chOff x="0" y="0"/>
            <a:chExt cx="548640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Efficient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377940"/>
            <a:ext cx="11795760" cy="822960"/>
            <a:chOff x="0" y="0"/>
            <a:chExt cx="157276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Uses little time and little memory.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1961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200900"/>
            <a:ext cx="4114800" cy="822960"/>
            <a:chOff x="0" y="0"/>
            <a:chExt cx="548640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Representation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200900"/>
            <a:ext cx="11795760" cy="822960"/>
            <a:chOff x="0" y="0"/>
            <a:chExt cx="1572768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Pseudocode, a flowchart, or plain steps.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0190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algorithm is the idea. The program is one way to write it down.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makes a good algorithm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Five properties of an algorithm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3036570" cy="2625090"/>
            <a:chOff x="0" y="0"/>
            <a:chExt cx="4048760" cy="3500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8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048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827653" y="0"/>
                  </a:lnTo>
                  <a:cubicBezTo>
                    <a:pt x="3949700" y="0"/>
                    <a:pt x="4048760" y="98933"/>
                    <a:pt x="4048760" y="221107"/>
                  </a:cubicBezTo>
                  <a:lnTo>
                    <a:pt x="4048760" y="3279013"/>
                  </a:lnTo>
                  <a:cubicBezTo>
                    <a:pt x="4048760" y="3401060"/>
                    <a:pt x="3949827" y="3500120"/>
                    <a:pt x="3827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048760" cy="3500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Input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it starts with.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52163" y="3419475"/>
            <a:ext cx="3036570" cy="2625090"/>
            <a:chOff x="0" y="0"/>
            <a:chExt cx="4048760" cy="3500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48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048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827653" y="0"/>
                  </a:lnTo>
                  <a:cubicBezTo>
                    <a:pt x="3949700" y="0"/>
                    <a:pt x="4048760" y="98933"/>
                    <a:pt x="4048760" y="221107"/>
                  </a:cubicBezTo>
                  <a:lnTo>
                    <a:pt x="4048760" y="3279013"/>
                  </a:lnTo>
                  <a:cubicBezTo>
                    <a:pt x="4048760" y="3401060"/>
                    <a:pt x="3949827" y="3500120"/>
                    <a:pt x="3827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048760" cy="3500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Output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it must produce.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16571" y="3419475"/>
            <a:ext cx="3036570" cy="2625090"/>
            <a:chOff x="0" y="0"/>
            <a:chExt cx="4048760" cy="3500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048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827653" y="0"/>
                  </a:lnTo>
                  <a:cubicBezTo>
                    <a:pt x="3949700" y="0"/>
                    <a:pt x="4048760" y="98933"/>
                    <a:pt x="4048760" y="221107"/>
                  </a:cubicBezTo>
                  <a:lnTo>
                    <a:pt x="4048760" y="3279013"/>
                  </a:lnTo>
                  <a:cubicBezTo>
                    <a:pt x="4048760" y="3401060"/>
                    <a:pt x="3949827" y="3500120"/>
                    <a:pt x="3827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048760" cy="3500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Finite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It must end.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80979" y="3419475"/>
            <a:ext cx="3036570" cy="2625090"/>
            <a:chOff x="0" y="0"/>
            <a:chExt cx="4048760" cy="3500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48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048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827653" y="0"/>
                  </a:lnTo>
                  <a:cubicBezTo>
                    <a:pt x="3949700" y="0"/>
                    <a:pt x="4048760" y="98933"/>
                    <a:pt x="4048760" y="221107"/>
                  </a:cubicBezTo>
                  <a:lnTo>
                    <a:pt x="4048760" y="3279013"/>
                  </a:lnTo>
                  <a:cubicBezTo>
                    <a:pt x="4048760" y="3401060"/>
                    <a:pt x="3949827" y="3500120"/>
                    <a:pt x="3827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048760" cy="3500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Effective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Every step is doable.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45387" y="3419475"/>
            <a:ext cx="3036570" cy="2625090"/>
            <a:chOff x="0" y="0"/>
            <a:chExt cx="4048760" cy="3500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48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0487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827653" y="0"/>
                  </a:lnTo>
                  <a:cubicBezTo>
                    <a:pt x="3949700" y="0"/>
                    <a:pt x="4048760" y="98933"/>
                    <a:pt x="4048760" y="221107"/>
                  </a:cubicBezTo>
                  <a:lnTo>
                    <a:pt x="4048760" y="3279013"/>
                  </a:lnTo>
                  <a:cubicBezTo>
                    <a:pt x="4048760" y="3401060"/>
                    <a:pt x="3949827" y="3500120"/>
                    <a:pt x="38276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CB6F34"/>
            </a:solidFill>
            <a:ln w="19050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048760" cy="3500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Precise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Every step is exact. No guessing.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7280" y="6515100"/>
            <a:ext cx="16047720" cy="2057400"/>
            <a:chOff x="0" y="0"/>
            <a:chExt cx="21396960" cy="2743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39696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13969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177504" y="0"/>
                  </a:lnTo>
                  <a:cubicBezTo>
                    <a:pt x="21298663" y="0"/>
                    <a:pt x="21396961" y="98298"/>
                    <a:pt x="21396961" y="219456"/>
                  </a:cubicBezTo>
                  <a:lnTo>
                    <a:pt x="21396961" y="2523744"/>
                  </a:lnTo>
                  <a:cubicBezTo>
                    <a:pt x="21396961" y="2644902"/>
                    <a:pt x="21298663" y="2743200"/>
                    <a:pt x="21177504" y="2743200"/>
                  </a:cubicBezTo>
                  <a:lnTo>
                    <a:pt x="219456" y="2743200"/>
                  </a:lnTo>
                  <a:cubicBezTo>
                    <a:pt x="98298" y="2743200"/>
                    <a:pt x="0" y="2644902"/>
                    <a:pt x="0" y="252374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1396960" cy="2743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person fills in the gaps. </a:t>
              </a:r>
              <a:r>
                <a:rPr lang="en-US" sz="4500" b="true">
                  <a:solidFill>
                    <a:srgbClr val="F0A070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machine can’t.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“Add sugar” is a wish. “Add 1 teaspoon” is a step.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8915400"/>
            <a:ext cx="16047720" cy="480060"/>
            <a:chOff x="0" y="0"/>
            <a:chExt cx="2139696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396961" cy="640080"/>
            </a:xfrm>
            <a:custGeom>
              <a:avLst/>
              <a:gdLst/>
              <a:ahLst/>
              <a:cxnLst/>
              <a:rect r="r" b="b" t="t" l="l"/>
              <a:pathLst>
                <a:path h="6400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56" r="0" b="-60135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3969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omic Sans"/>
                  <a:ea typeface="Comic Sans"/>
                  <a:cs typeface="Comic Sans"/>
                  <a:sym typeface="Comic Sans"/>
                </a:rPr>
                <a:t>Knuth, D. E. (1997). The Art of Computer Programming, Vol. 1: Fundamental Algorithms (3rd ed.), §1.1. Addison-Wesley. Knuth calls “precise” definiteness.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Problem solving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Pólya’s four steps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40100" cy="5429250"/>
        </p:xfrm>
        <a:graphic>
          <a:graphicData uri="http://schemas.openxmlformats.org/drawingml/2006/table">
            <a:tbl>
              <a:tblPr/>
              <a:tblGrid>
                <a:gridCol w="3713196"/>
                <a:gridCol w="6163452"/>
                <a:gridCol w="6163452"/>
              </a:tblGrid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Step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Ask yourself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chiyaaa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1. Understand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What is given? What is wanted?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Given: water, tea. Wanted: one cup.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2. Plan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Have I solved something similar?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Like boiling noodles, plus milk.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3. Carry out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Follow the plan, checking each step.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Cook, taste along the way.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4. Look back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Does it work? Can it be better?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Too sweet? Adjust next time.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846820"/>
            <a:ext cx="16047720" cy="480060"/>
            <a:chOff x="0" y="0"/>
            <a:chExt cx="2139696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96961" cy="640080"/>
            </a:xfrm>
            <a:custGeom>
              <a:avLst/>
              <a:gdLst/>
              <a:ahLst/>
              <a:cxnLst/>
              <a:rect r="r" b="b" t="t" l="l"/>
              <a:pathLst>
                <a:path h="6400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56" r="0" b="-6013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3969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Pólya, G. (1945). How to Solve It. Princeton University Press.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Computational thinking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four pillars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40100" cy="5429250"/>
        </p:xfrm>
        <a:graphic>
          <a:graphicData uri="http://schemas.openxmlformats.org/drawingml/2006/table">
            <a:tbl>
              <a:tblPr/>
              <a:tblGrid>
                <a:gridCol w="4257697"/>
                <a:gridCol w="6299577"/>
                <a:gridCol w="5482825"/>
              </a:tblGrid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Pillar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Meaning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FFFFFF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Chiyaa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Decomposition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Break a big problem into small parts.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Boil, brew, sweeten, serve.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Pattern recognition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Spot what repeats.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Every cup follows the same steps.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Abstraction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Ignore details that do not matter.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The colour of the pot.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Algorithm design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Write the steps precisely.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The exact recipe.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846820"/>
            <a:ext cx="16047720" cy="480060"/>
            <a:chOff x="0" y="0"/>
            <a:chExt cx="2139696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96961" cy="640080"/>
            </a:xfrm>
            <a:custGeom>
              <a:avLst/>
              <a:gdLst/>
              <a:ahLst/>
              <a:cxnLst/>
              <a:rect r="r" b="b" t="t" l="l"/>
              <a:pathLst>
                <a:path h="6400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356" r="0" b="-6013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3969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Wing, J. M. (2006). Computational thinking. Communications of the ACM, 49(3), 33–35.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Data and variables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234440"/>
            <a:chOff x="0" y="0"/>
            <a:chExt cx="2139696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Where does the robot keep the 200 ml?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497580"/>
            <a:ext cx="5074920" cy="685800"/>
            <a:chOff x="0" y="0"/>
            <a:chExt cx="676656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66560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66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water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7755" y="4242435"/>
            <a:ext cx="5093970" cy="2625090"/>
            <a:chOff x="0" y="0"/>
            <a:chExt cx="6791960" cy="3500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67919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6570853" y="0"/>
                  </a:lnTo>
                  <a:cubicBezTo>
                    <a:pt x="6692900" y="0"/>
                    <a:pt x="6791960" y="98933"/>
                    <a:pt x="6791960" y="221107"/>
                  </a:cubicBezTo>
                  <a:lnTo>
                    <a:pt x="6791960" y="3279013"/>
                  </a:lnTo>
                  <a:cubicBezTo>
                    <a:pt x="6791960" y="3401060"/>
                    <a:pt x="6693027" y="3500120"/>
                    <a:pt x="65708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91960" cy="3500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200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3680" y="3497580"/>
            <a:ext cx="5074920" cy="685800"/>
            <a:chOff x="0" y="0"/>
            <a:chExt cx="676656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66560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766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sugar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4155" y="4242435"/>
            <a:ext cx="5093970" cy="2625090"/>
            <a:chOff x="0" y="0"/>
            <a:chExt cx="6791960" cy="3500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19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67919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6570853" y="0"/>
                  </a:lnTo>
                  <a:cubicBezTo>
                    <a:pt x="6692900" y="0"/>
                    <a:pt x="6791960" y="98933"/>
                    <a:pt x="6791960" y="221107"/>
                  </a:cubicBezTo>
                  <a:lnTo>
                    <a:pt x="6791960" y="3279013"/>
                  </a:lnTo>
                  <a:cubicBezTo>
                    <a:pt x="6791960" y="3401060"/>
                    <a:pt x="6693027" y="3500120"/>
                    <a:pt x="657085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791960" cy="3500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teaspoon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70080" y="3497580"/>
            <a:ext cx="5074920" cy="685800"/>
            <a:chOff x="0" y="0"/>
            <a:chExt cx="676656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66560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766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boiling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46268" y="4228147"/>
            <a:ext cx="5122545" cy="2653665"/>
            <a:chOff x="0" y="0"/>
            <a:chExt cx="6830060" cy="35382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30060" cy="3538220"/>
            </a:xfrm>
            <a:custGeom>
              <a:avLst/>
              <a:gdLst/>
              <a:ahLst/>
              <a:cxnLst/>
              <a:rect r="r" b="b" t="t" l="l"/>
              <a:pathLst>
                <a:path h="3538220" w="683006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6606540" y="0"/>
                  </a:lnTo>
                  <a:cubicBezTo>
                    <a:pt x="6729984" y="0"/>
                    <a:pt x="6830060" y="100076"/>
                    <a:pt x="6830060" y="223520"/>
                  </a:cubicBezTo>
                  <a:lnTo>
                    <a:pt x="6830060" y="3314700"/>
                  </a:lnTo>
                  <a:cubicBezTo>
                    <a:pt x="6830060" y="3438144"/>
                    <a:pt x="6729984" y="3538220"/>
                    <a:pt x="6606540" y="3538220"/>
                  </a:cubicBezTo>
                  <a:lnTo>
                    <a:pt x="223520" y="3538220"/>
                  </a:lnTo>
                  <a:cubicBezTo>
                    <a:pt x="100076" y="3538220"/>
                    <a:pt x="0" y="3438144"/>
                    <a:pt x="0" y="3314700"/>
                  </a:cubicBezTo>
                  <a:close/>
                </a:path>
              </a:pathLst>
            </a:custGeom>
            <a:solidFill>
              <a:srgbClr val="F4F6FA"/>
            </a:solidFill>
            <a:ln w="47625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830060" cy="3538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no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changes to yes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7338060"/>
            <a:ext cx="16047720" cy="1371600"/>
            <a:chOff x="0" y="0"/>
            <a:chExt cx="2139696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396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974" r="0" b="-1779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3969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variable is a named box. </a:t>
              </a:r>
              <a:r>
                <a:rPr lang="en-US" sz="39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name says what it is. The value says how much.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Why the name?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Why is it called a variable?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2811780"/>
            <a:ext cx="16047720" cy="617220"/>
            <a:chOff x="0" y="0"/>
            <a:chExt cx="2139696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96961" cy="822960"/>
            </a:xfrm>
            <a:custGeom>
              <a:avLst/>
              <a:gdLst/>
              <a:ahLst/>
              <a:cxnLst/>
              <a:rect r="r" b="b" t="t" l="l"/>
              <a:pathLst>
                <a:path h="8229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396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variable</a:t>
              </a:r>
              <a:r>
                <a:rPr lang="en-US" sz="30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, from Latin variabilis: able to change.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3634740"/>
            <a:ext cx="16047720" cy="548640"/>
            <a:chOff x="0" y="0"/>
            <a:chExt cx="213969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96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9937" r="0" b="-5199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1396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4561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runs</a:t>
              </a:r>
              <a:r>
                <a:rPr lang="en-US" sz="2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address 0x1000, the same box every time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7755" y="4311015"/>
            <a:ext cx="3516630" cy="3036570"/>
            <a:chOff x="0" y="0"/>
            <a:chExt cx="4688840" cy="404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888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468884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4467987" y="0"/>
                  </a:lnTo>
                  <a:cubicBezTo>
                    <a:pt x="4589907" y="0"/>
                    <a:pt x="4688840" y="98933"/>
                    <a:pt x="4688840" y="220853"/>
                  </a:cubicBezTo>
                  <a:lnTo>
                    <a:pt x="4688840" y="3827907"/>
                  </a:lnTo>
                  <a:cubicBezTo>
                    <a:pt x="4688840" y="3949827"/>
                    <a:pt x="4589907" y="4048760"/>
                    <a:pt x="4467987" y="4048760"/>
                  </a:cubicBezTo>
                  <a:lnTo>
                    <a:pt x="220853" y="4048760"/>
                  </a:lnTo>
                  <a:cubicBezTo>
                    <a:pt x="98933" y="4048760"/>
                    <a:pt x="0" y="3949827"/>
                    <a:pt x="0" y="3827907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688840" cy="4058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45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start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222900">
            <a:off x="4643771" y="5819775"/>
            <a:ext cx="587978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5271135" y="4311015"/>
            <a:ext cx="3516630" cy="3036570"/>
            <a:chOff x="0" y="0"/>
            <a:chExt cx="4688840" cy="4048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888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468884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4467987" y="0"/>
                  </a:lnTo>
                  <a:cubicBezTo>
                    <a:pt x="4589907" y="0"/>
                    <a:pt x="4688840" y="98933"/>
                    <a:pt x="4688840" y="220853"/>
                  </a:cubicBezTo>
                  <a:lnTo>
                    <a:pt x="4688840" y="3827907"/>
                  </a:lnTo>
                  <a:cubicBezTo>
                    <a:pt x="4688840" y="3949827"/>
                    <a:pt x="4589907" y="4048760"/>
                    <a:pt x="4467987" y="4048760"/>
                  </a:cubicBezTo>
                  <a:lnTo>
                    <a:pt x="220853" y="4048760"/>
                  </a:lnTo>
                  <a:cubicBezTo>
                    <a:pt x="98933" y="4048760"/>
                    <a:pt x="0" y="3949827"/>
                    <a:pt x="0" y="3827907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88840" cy="4058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49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runs ← runs + 4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222900">
            <a:off x="8827151" y="5819775"/>
            <a:ext cx="587978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9454515" y="4311015"/>
            <a:ext cx="3516630" cy="3036570"/>
            <a:chOff x="0" y="0"/>
            <a:chExt cx="4688840" cy="4048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888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468884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4467987" y="0"/>
                  </a:lnTo>
                  <a:cubicBezTo>
                    <a:pt x="4589907" y="0"/>
                    <a:pt x="4688840" y="98933"/>
                    <a:pt x="4688840" y="220853"/>
                  </a:cubicBezTo>
                  <a:lnTo>
                    <a:pt x="4688840" y="3827907"/>
                  </a:lnTo>
                  <a:cubicBezTo>
                    <a:pt x="4688840" y="3949827"/>
                    <a:pt x="4589907" y="4048760"/>
                    <a:pt x="4467987" y="4048760"/>
                  </a:cubicBezTo>
                  <a:lnTo>
                    <a:pt x="220853" y="4048760"/>
                  </a:lnTo>
                  <a:cubicBezTo>
                    <a:pt x="98933" y="4048760"/>
                    <a:pt x="0" y="3949827"/>
                    <a:pt x="0" y="3827907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688840" cy="4058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50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runs ← runs + 1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222900">
            <a:off x="13010531" y="5819775"/>
            <a:ext cx="587978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13637895" y="4311015"/>
            <a:ext cx="3516630" cy="3036570"/>
            <a:chOff x="0" y="0"/>
            <a:chExt cx="4688840" cy="4048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888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468884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4467987" y="0"/>
                  </a:lnTo>
                  <a:cubicBezTo>
                    <a:pt x="4589907" y="0"/>
                    <a:pt x="4688840" y="98933"/>
                    <a:pt x="4688840" y="220853"/>
                  </a:cubicBezTo>
                  <a:lnTo>
                    <a:pt x="4688840" y="3827907"/>
                  </a:lnTo>
                  <a:cubicBezTo>
                    <a:pt x="4688840" y="3949827"/>
                    <a:pt x="4589907" y="4048760"/>
                    <a:pt x="4467987" y="4048760"/>
                  </a:cubicBezTo>
                  <a:lnTo>
                    <a:pt x="220853" y="4048760"/>
                  </a:lnTo>
                  <a:cubicBezTo>
                    <a:pt x="98933" y="4048760"/>
                    <a:pt x="0" y="3949827"/>
                    <a:pt x="0" y="3827907"/>
                  </a:cubicBezTo>
                  <a:close/>
                </a:path>
              </a:pathLst>
            </a:custGeom>
            <a:solidFill>
              <a:srgbClr val="CB6F34"/>
            </a:solidFill>
            <a:ln w="19050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88840" cy="4058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56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runs ← runs + 6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7280" y="8229600"/>
            <a:ext cx="16088868" cy="1097280"/>
            <a:chOff x="0" y="0"/>
            <a:chExt cx="21451824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5182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280160"/>
                  </a:lnTo>
                  <a:cubicBezTo>
                    <a:pt x="21451824" y="1381125"/>
                    <a:pt x="21369908" y="1463040"/>
                    <a:pt x="21268944" y="1463040"/>
                  </a:cubicBezTo>
                  <a:lnTo>
                    <a:pt x="182880" y="1463040"/>
                  </a:lnTo>
                  <a:cubicBezTo>
                    <a:pt x="81915" y="1463040"/>
                    <a:pt x="0" y="1381125"/>
                    <a:pt x="0" y="128016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451824" cy="1463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Name stays. Address stays. Value varies.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constant never changes: boilingPoint = 100.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Memory location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Where does a variable live?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154680"/>
            <a:ext cx="7132320" cy="1440180"/>
            <a:chOff x="0" y="0"/>
            <a:chExt cx="9509760" cy="1920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497" r="0" b="-464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50976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Memory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long row of cells. Each cell has a number, its address.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4732020"/>
            <a:ext cx="7132320" cy="1440180"/>
            <a:chOff x="0" y="0"/>
            <a:chExt cx="9509760" cy="1920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497" r="0" b="-464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50976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Address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Where a value is stored, like a house number.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6309360"/>
            <a:ext cx="7132320" cy="1440180"/>
            <a:chOff x="0" y="0"/>
            <a:chExt cx="9509760" cy="192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497" r="0" b="-464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50976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Name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label we use, so we never remember addresses.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64040" y="2948940"/>
            <a:ext cx="5486400" cy="480060"/>
            <a:chOff x="0" y="0"/>
            <a:chExt cx="73152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64748B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MEMORY (RAM)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78240" y="3497580"/>
            <a:ext cx="2331720" cy="960120"/>
            <a:chOff x="0" y="0"/>
            <a:chExt cx="310896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08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1089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60"/>
                </a:lnSpc>
              </a:pPr>
              <a:r>
                <a:rPr lang="en-US" sz="25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0x1000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69993" y="3483292"/>
            <a:ext cx="3183255" cy="988695"/>
            <a:chOff x="0" y="0"/>
            <a:chExt cx="4244340" cy="13182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44340" cy="1318260"/>
            </a:xfrm>
            <a:custGeom>
              <a:avLst/>
              <a:gdLst/>
              <a:ahLst/>
              <a:cxnLst/>
              <a:rect r="r" b="b" t="t" l="l"/>
              <a:pathLst>
                <a:path h="1318260" w="424434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131310" y="0"/>
                  </a:lnTo>
                  <a:cubicBezTo>
                    <a:pt x="4193667" y="0"/>
                    <a:pt x="4244340" y="50546"/>
                    <a:pt x="4244340" y="113030"/>
                  </a:cubicBezTo>
                  <a:lnTo>
                    <a:pt x="4244340" y="1205230"/>
                  </a:lnTo>
                  <a:cubicBezTo>
                    <a:pt x="4244340" y="1267587"/>
                    <a:pt x="4193794" y="1318260"/>
                    <a:pt x="4131310" y="1318260"/>
                  </a:cubicBezTo>
                  <a:lnTo>
                    <a:pt x="113030" y="1318260"/>
                  </a:lnTo>
                  <a:cubicBezTo>
                    <a:pt x="50673" y="1318260"/>
                    <a:pt x="0" y="1267714"/>
                    <a:pt x="0" y="1205230"/>
                  </a:cubicBezTo>
                  <a:close/>
                </a:path>
              </a:pathLst>
            </a:custGeom>
            <a:solidFill>
              <a:srgbClr val="CB6F34"/>
            </a:solidFill>
            <a:ln w="28575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244340" cy="1318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881860" y="3497580"/>
            <a:ext cx="2606040" cy="960120"/>
            <a:chOff x="0" y="0"/>
            <a:chExt cx="347472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74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47472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← runs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778240" y="4594860"/>
            <a:ext cx="2331720" cy="960120"/>
            <a:chOff x="0" y="0"/>
            <a:chExt cx="31089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08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1089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60"/>
                </a:lnSpc>
              </a:pPr>
              <a:r>
                <a:rPr lang="en-US" sz="25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0x1004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369993" y="4580572"/>
            <a:ext cx="3183255" cy="988695"/>
            <a:chOff x="0" y="0"/>
            <a:chExt cx="4244340" cy="13182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44340" cy="1318260"/>
            </a:xfrm>
            <a:custGeom>
              <a:avLst/>
              <a:gdLst/>
              <a:ahLst/>
              <a:cxnLst/>
              <a:rect r="r" b="b" t="t" l="l"/>
              <a:pathLst>
                <a:path h="1318260" w="424434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131310" y="0"/>
                  </a:lnTo>
                  <a:cubicBezTo>
                    <a:pt x="4193667" y="0"/>
                    <a:pt x="4244340" y="50546"/>
                    <a:pt x="4244340" y="113030"/>
                  </a:cubicBezTo>
                  <a:lnTo>
                    <a:pt x="4244340" y="1205230"/>
                  </a:lnTo>
                  <a:cubicBezTo>
                    <a:pt x="4244340" y="1267587"/>
                    <a:pt x="4193794" y="1318260"/>
                    <a:pt x="4131310" y="1318260"/>
                  </a:cubicBezTo>
                  <a:lnTo>
                    <a:pt x="113030" y="1318260"/>
                  </a:lnTo>
                  <a:cubicBezTo>
                    <a:pt x="50673" y="1318260"/>
                    <a:pt x="0" y="1267714"/>
                    <a:pt x="0" y="1205230"/>
                  </a:cubicBezTo>
                  <a:close/>
                </a:path>
              </a:pathLst>
            </a:custGeom>
            <a:solidFill>
              <a:srgbClr val="F4F6FA"/>
            </a:solidFill>
            <a:ln w="28575" cap="sq">
              <a:solidFill>
                <a:srgbClr val="263A5E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244340" cy="1318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81860" y="4594860"/>
            <a:ext cx="2606040" cy="960120"/>
            <a:chOff x="0" y="0"/>
            <a:chExt cx="3474720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74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47472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← wickets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78240" y="5692140"/>
            <a:ext cx="2331720" cy="960120"/>
            <a:chOff x="0" y="0"/>
            <a:chExt cx="310896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08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1089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60"/>
                </a:lnSpc>
              </a:pPr>
              <a:r>
                <a:rPr lang="en-US" sz="25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0x1008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369993" y="5677853"/>
            <a:ext cx="3183255" cy="988695"/>
            <a:chOff x="0" y="0"/>
            <a:chExt cx="4244340" cy="13182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44340" cy="1318260"/>
            </a:xfrm>
            <a:custGeom>
              <a:avLst/>
              <a:gdLst/>
              <a:ahLst/>
              <a:cxnLst/>
              <a:rect r="r" b="b" t="t" l="l"/>
              <a:pathLst>
                <a:path h="1318260" w="424434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131310" y="0"/>
                  </a:lnTo>
                  <a:cubicBezTo>
                    <a:pt x="4193667" y="0"/>
                    <a:pt x="4244340" y="50546"/>
                    <a:pt x="4244340" y="113030"/>
                  </a:cubicBezTo>
                  <a:lnTo>
                    <a:pt x="4244340" y="1205230"/>
                  </a:lnTo>
                  <a:cubicBezTo>
                    <a:pt x="4244340" y="1267587"/>
                    <a:pt x="4193794" y="1318260"/>
                    <a:pt x="4131310" y="1318260"/>
                  </a:cubicBezTo>
                  <a:lnTo>
                    <a:pt x="113030" y="1318260"/>
                  </a:lnTo>
                  <a:cubicBezTo>
                    <a:pt x="50673" y="1318260"/>
                    <a:pt x="0" y="1267714"/>
                    <a:pt x="0" y="1205230"/>
                  </a:cubicBezTo>
                  <a:close/>
                </a:path>
              </a:pathLst>
            </a:custGeom>
            <a:solidFill>
              <a:srgbClr val="F4F6FA"/>
            </a:solidFill>
            <a:ln w="28575" cap="sq">
              <a:solidFill>
                <a:srgbClr val="263A5E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44340" cy="1318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881860" y="5692140"/>
            <a:ext cx="2606040" cy="960120"/>
            <a:chOff x="0" y="0"/>
            <a:chExt cx="347472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74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47472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← balls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778240" y="6789420"/>
            <a:ext cx="2331720" cy="960120"/>
            <a:chOff x="0" y="0"/>
            <a:chExt cx="310896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089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1089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60"/>
                </a:lnSpc>
              </a:pPr>
              <a:r>
                <a:rPr lang="en-US" sz="25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0x100C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69993" y="6775132"/>
            <a:ext cx="3183255" cy="988695"/>
            <a:chOff x="0" y="0"/>
            <a:chExt cx="4244340" cy="13182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44340" cy="1318260"/>
            </a:xfrm>
            <a:custGeom>
              <a:avLst/>
              <a:gdLst/>
              <a:ahLst/>
              <a:cxnLst/>
              <a:rect r="r" b="b" t="t" l="l"/>
              <a:pathLst>
                <a:path h="1318260" w="424434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131310" y="0"/>
                  </a:lnTo>
                  <a:cubicBezTo>
                    <a:pt x="4193667" y="0"/>
                    <a:pt x="4244340" y="50546"/>
                    <a:pt x="4244340" y="113030"/>
                  </a:cubicBezTo>
                  <a:lnTo>
                    <a:pt x="4244340" y="1205230"/>
                  </a:lnTo>
                  <a:cubicBezTo>
                    <a:pt x="4244340" y="1267587"/>
                    <a:pt x="4193794" y="1318260"/>
                    <a:pt x="4131310" y="1318260"/>
                  </a:cubicBezTo>
                  <a:lnTo>
                    <a:pt x="113030" y="1318260"/>
                  </a:lnTo>
                  <a:cubicBezTo>
                    <a:pt x="50673" y="1318260"/>
                    <a:pt x="0" y="1267714"/>
                    <a:pt x="0" y="1205230"/>
                  </a:cubicBezTo>
                  <a:close/>
                </a:path>
              </a:pathLst>
            </a:custGeom>
            <a:solidFill>
              <a:srgbClr val="F4F6FA"/>
            </a:solidFill>
            <a:ln w="28575" cap="sq">
              <a:solidFill>
                <a:srgbClr val="263A5E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244340" cy="1318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120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881860" y="6789420"/>
            <a:ext cx="2606040" cy="960120"/>
            <a:chOff x="0" y="0"/>
            <a:chExt cx="3474720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4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47472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← target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778240" y="7886700"/>
            <a:ext cx="8229600" cy="342900"/>
            <a:chOff x="0" y="0"/>
            <a:chExt cx="10972800" cy="457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Addresses shown are illustrative.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97280" y="8229600"/>
            <a:ext cx="16088868" cy="1097280"/>
            <a:chOff x="0" y="0"/>
            <a:chExt cx="21451824" cy="1463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45182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280160"/>
                  </a:lnTo>
                  <a:cubicBezTo>
                    <a:pt x="21451824" y="1381125"/>
                    <a:pt x="21369908" y="1463040"/>
                    <a:pt x="21268944" y="1463040"/>
                  </a:cubicBezTo>
                  <a:lnTo>
                    <a:pt x="182880" y="1463040"/>
                  </a:lnTo>
                  <a:cubicBezTo>
                    <a:pt x="81915" y="1463040"/>
                    <a:pt x="0" y="1381125"/>
                    <a:pt x="0" y="128016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1451824" cy="1463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variable is a named location in memory.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Humans use the name. The machine uses the address.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Types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Every value has a type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5093970" cy="3310890"/>
            <a:chOff x="0" y="0"/>
            <a:chExt cx="6791960" cy="4414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Number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200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Do maths with it.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200 + 100 = 300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4155" y="3419475"/>
            <a:ext cx="5093970" cy="3310890"/>
            <a:chOff x="0" y="0"/>
            <a:chExt cx="6791960" cy="4414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Text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“ginger”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Letters and words.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Join them, not add them.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60555" y="3419475"/>
            <a:ext cx="5093970" cy="3310890"/>
            <a:chOff x="0" y="0"/>
            <a:chExt cx="6791960" cy="4414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True / False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yes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Only two answers.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Is the water boiling?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type decides what you can do.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As numbers, 200 + 100 = 300. As text, “200” + “100” = “200100”.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Kinds of 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Data comes in kinds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02000" cy="4857750"/>
        </p:xfrm>
        <a:graphic>
          <a:graphicData uri="http://schemas.openxmlformats.org/drawingml/2006/table">
            <a:tbl>
              <a:tblPr/>
              <a:tblGrid>
                <a:gridCol w="5334000"/>
                <a:gridCol w="6013010"/>
                <a:gridCol w="4654990"/>
              </a:tblGrid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Kind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Meaning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</a:t>
                      </a:r>
                      <a:r>
                        <a:rPr lang="en-US" sz="28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xample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Quantitative, discrete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Counted, whole numbers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3 cups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Quantitative, continuous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Measured, any value in a range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98.6 °C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Qualitative, nominal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Categories with no order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Assam, Darjeeling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Qualitative, ordinal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Categories with an order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small, medium, large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29600"/>
            <a:ext cx="16088868" cy="1028700"/>
            <a:chOff x="0" y="0"/>
            <a:chExt cx="2145182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188720"/>
                  </a:lnTo>
                  <a:cubicBezTo>
                    <a:pt x="21451824" y="1289685"/>
                    <a:pt x="21369908" y="1371600"/>
                    <a:pt x="21268944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kind of data decides how you store it and what you can do with it.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How data is organised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Structured, semi-structured, unstructured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02000" cy="4648200"/>
        </p:xfrm>
        <a:graphic>
          <a:graphicData uri="http://schemas.openxmlformats.org/drawingml/2006/table">
            <a:tbl>
              <a:tblPr/>
              <a:tblGrid>
                <a:gridCol w="4654990"/>
                <a:gridCol w="6013010"/>
                <a:gridCol w="5334000"/>
              </a:tblGrid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Form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Shape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Structured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Fixed rows and columns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guest list table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Semi-structured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Labelled fields, flexible shape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An order with optional extras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Unstructured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 fixed shape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photo or voice note of the 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29600"/>
            <a:ext cx="16088868" cy="1028700"/>
            <a:chOff x="0" y="0"/>
            <a:chExt cx="2145182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188720"/>
                  </a:lnTo>
                  <a:cubicBezTo>
                    <a:pt x="21451824" y="1289685"/>
                    <a:pt x="21369908" y="1371600"/>
                    <a:pt x="21268944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Most real-world data is unstructured. Programs first give it a shape.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Data types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Primitive data types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02000" cy="5867400"/>
        </p:xfrm>
        <a:graphic>
          <a:graphicData uri="http://schemas.openxmlformats.org/drawingml/2006/table">
            <a:tbl>
              <a:tblPr/>
              <a:tblGrid>
                <a:gridCol w="3153734"/>
                <a:gridCol w="4237595"/>
                <a:gridCol w="3289216"/>
                <a:gridCol w="5321455"/>
              </a:tblGrid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Type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Holds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Examples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Integer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Whole numbers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3, −7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Number of cups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Float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Decimal numbers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98.6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Temperature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Character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One symbol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‘S’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Size 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String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Text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“ginger”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Tea 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Boolean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 or 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Is it boiling?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Null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 value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null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Milk not chosen yet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7492" y="2897339"/>
            <a:ext cx="9357942" cy="382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8"/>
              </a:lnSpc>
            </a:pPr>
            <a:r>
              <a:rPr lang="en-US" b="true" sz="9005" spc="-117">
                <a:solidFill>
                  <a:srgbClr val="222222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How many different values can a </a:t>
            </a:r>
            <a:r>
              <a:rPr lang="en-US" b="true" sz="9005" spc="-117">
                <a:solidFill>
                  <a:srgbClr val="D9691E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byte </a:t>
            </a:r>
            <a:r>
              <a:rPr lang="en-US" b="true" sz="9005" spc="-117">
                <a:solidFill>
                  <a:srgbClr val="222222"/>
                </a:solidFill>
                <a:latin typeface="IBM Plex Sans 1 Bold"/>
                <a:ea typeface="IBM Plex Sans 1 Bold"/>
                <a:cs typeface="IBM Plex Sans 1 Bold"/>
                <a:sym typeface="IBM Plex Sans 1 Bold"/>
              </a:rPr>
              <a:t>holds?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Numbers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Numbers inside the machine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960120"/>
            <a:chOff x="0" y="0"/>
            <a:chExt cx="548640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Bit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960120"/>
            <a:chOff x="0" y="0"/>
            <a:chExt cx="1572768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 or 1. Everything a computer stores is bits.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0414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046220"/>
            <a:ext cx="4114800" cy="960120"/>
            <a:chOff x="0" y="0"/>
            <a:chExt cx="548640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Byte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046220"/>
            <a:ext cx="11795760" cy="960120"/>
            <a:chOff x="0" y="0"/>
            <a:chExt cx="15727680" cy="1280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8 bits. It holds 2⁸ = 256 different values.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50015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5006340"/>
            <a:ext cx="4114800" cy="960120"/>
            <a:chOff x="0" y="0"/>
            <a:chExt cx="548640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 bits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5006340"/>
            <a:ext cx="11795760" cy="960120"/>
            <a:chOff x="0" y="0"/>
            <a:chExt cx="1572768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2ⁿ different values. More bits, bigger range.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9616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966460"/>
            <a:ext cx="4114800" cy="960120"/>
            <a:chOff x="0" y="0"/>
            <a:chExt cx="548640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Signed 8-bit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966460"/>
            <a:ext cx="11795760" cy="960120"/>
            <a:chOff x="0" y="0"/>
            <a:chExt cx="1572768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−128 to 127. Go past the end and it overflows.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9218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926580"/>
            <a:ext cx="4114800" cy="960120"/>
            <a:chOff x="0" y="0"/>
            <a:chExt cx="548640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Integer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926580"/>
            <a:ext cx="11795760" cy="960120"/>
            <a:chOff x="0" y="0"/>
            <a:chExt cx="1572768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Exact whole numbers. Use it for counting.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8819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886700"/>
            <a:ext cx="4114800" cy="960120"/>
            <a:chOff x="0" y="0"/>
            <a:chExt cx="5486400" cy="1280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Float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886700"/>
            <a:ext cx="11795760" cy="960120"/>
            <a:chOff x="0" y="0"/>
            <a:chExt cx="1572768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Approximate decimals. 0.1 + 0.2 is not exactly 0.3.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84205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Text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Text inside the machine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1069848"/>
            <a:chOff x="0" y="0"/>
            <a:chExt cx="5486400" cy="14264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Character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1069848"/>
            <a:chOff x="0" y="0"/>
            <a:chExt cx="15727680" cy="14264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835" r="0" b="-1648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symbol, stored as a number. A is 65.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15118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155948"/>
            <a:ext cx="4114800" cy="1069848"/>
            <a:chOff x="0" y="0"/>
            <a:chExt cx="5486400" cy="14264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String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155948"/>
            <a:ext cx="11795760" cy="1069848"/>
            <a:chOff x="0" y="0"/>
            <a:chExt cx="15727680" cy="14264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835" r="0" b="-1648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sequence of characters. Counting positions usually starts at 0.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5221034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5225796"/>
            <a:ext cx="4114800" cy="1069848"/>
            <a:chOff x="0" y="0"/>
            <a:chExt cx="5486400" cy="14264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ASCII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5225796"/>
            <a:ext cx="11795760" cy="1069848"/>
            <a:chOff x="0" y="0"/>
            <a:chExt cx="15727680" cy="14264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835" r="0" b="-1648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128 characters. English letters, digits, punctuation.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629088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6295644"/>
            <a:ext cx="4114800" cy="1069848"/>
            <a:chOff x="0" y="0"/>
            <a:chExt cx="5486400" cy="14264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Unicode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6295644"/>
            <a:ext cx="11795760" cy="1069848"/>
            <a:chOff x="0" y="0"/>
            <a:chExt cx="15727680" cy="14264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835" r="0" b="-16483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code for every script, including नमस्ते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7360730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7365492"/>
            <a:ext cx="4114800" cy="1069848"/>
            <a:chOff x="0" y="0"/>
            <a:chExt cx="5486400" cy="14264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UTF-8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7365492"/>
            <a:ext cx="11795760" cy="1069848"/>
            <a:chOff x="0" y="0"/>
            <a:chExt cx="15727680" cy="14264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835" r="0" b="-1648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Unicode stored in 1 to 4 bytes per character.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84305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8435340"/>
            <a:ext cx="16088868" cy="960120"/>
            <a:chOff x="0" y="0"/>
            <a:chExt cx="21451824" cy="1280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Same text, different encoding, different bytes.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Four different things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False, zero, empty and null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4857750"/>
        </p:xfrm>
        <a:graphic>
          <a:graphicData uri="http://schemas.openxmlformats.org/drawingml/2006/table">
            <a:tbl>
              <a:tblPr/>
              <a:tblGrid>
                <a:gridCol w="4388604"/>
                <a:gridCol w="6292096"/>
                <a:gridCol w="5340350"/>
              </a:tblGrid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Value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Means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real answer: no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boiling = 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number: zero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= 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“”  (empty)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Text with no characters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note = “”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null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 value at all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milk = null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29600"/>
            <a:ext cx="16088868" cy="1028700"/>
            <a:chOff x="0" y="0"/>
            <a:chExt cx="2145182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188720"/>
                  </a:lnTo>
                  <a:cubicBezTo>
                    <a:pt x="21451824" y="1289685"/>
                    <a:pt x="21369908" y="1371600"/>
                    <a:pt x="21268944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Four different things. A precise programmer never mixes them up.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Composite types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Composite data types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40100" cy="4686300"/>
        </p:xfrm>
        <a:graphic>
          <a:graphicData uri="http://schemas.openxmlformats.org/drawingml/2006/table">
            <a:tbl>
              <a:tblPr/>
              <a:tblGrid>
                <a:gridCol w="3560285"/>
                <a:gridCol w="2069933"/>
                <a:gridCol w="2882852"/>
                <a:gridCol w="3424798"/>
                <a:gridCol w="4102231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Type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Ordered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Duplicates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Access by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Array / list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Yes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Yes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Position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Guests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Tuple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Yes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Yes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Position, fixed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(200 ml, 100 ml)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Set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Membership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Tea types tried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Dictionary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Keys unique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Key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Order → sugar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Record / struct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Fields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Field 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One guest’s order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29600"/>
            <a:ext cx="16088868" cy="1028700"/>
            <a:chOff x="0" y="0"/>
            <a:chExt cx="2145182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188720"/>
                  </a:lnTo>
                  <a:cubicBezTo>
                    <a:pt x="21451824" y="1289685"/>
                    <a:pt x="21369908" y="1371600"/>
                    <a:pt x="21268944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Pick the structure whose rules match the rules of your data.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Variables in theory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Anatomy of a variable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50392"/>
            <a:chOff x="0" y="0"/>
            <a:chExt cx="548640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Name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50392"/>
            <a:chOff x="0" y="0"/>
            <a:chExt cx="1572768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label you choose, such as water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931729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936492"/>
            <a:ext cx="4114800" cy="850392"/>
            <a:chOff x="0" y="0"/>
            <a:chExt cx="5486400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Type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936492"/>
            <a:ext cx="11795760" cy="850392"/>
            <a:chOff x="0" y="0"/>
            <a:chExt cx="15727680" cy="1133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kind of value it can hold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78212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786884"/>
            <a:ext cx="4114800" cy="850392"/>
            <a:chOff x="0" y="0"/>
            <a:chExt cx="5486400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Value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786884"/>
            <a:ext cx="11795760" cy="850392"/>
            <a:chOff x="0" y="0"/>
            <a:chExt cx="15727680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is stored right now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632514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637276"/>
            <a:ext cx="4114800" cy="850392"/>
            <a:chOff x="0" y="0"/>
            <a:chExt cx="548640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Address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637276"/>
            <a:ext cx="11795760" cy="850392"/>
            <a:chOff x="0" y="0"/>
            <a:chExt cx="15727680" cy="1133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Where it lives in memory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48290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487668"/>
            <a:ext cx="4114800" cy="850392"/>
            <a:chOff x="0" y="0"/>
            <a:chExt cx="5486400" cy="1133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Scope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487668"/>
            <a:ext cx="11795760" cy="850392"/>
            <a:chOff x="0" y="0"/>
            <a:chExt cx="15727680" cy="1133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part of the program that can see it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3332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338060"/>
            <a:ext cx="4114800" cy="850392"/>
            <a:chOff x="0" y="0"/>
            <a:chExt cx="5486400" cy="11338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Lifetime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338060"/>
            <a:ext cx="11795760" cy="850392"/>
            <a:chOff x="0" y="0"/>
            <a:chExt cx="15727680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How long it exists while the program runs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183690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8188452"/>
            <a:ext cx="4114800" cy="850392"/>
            <a:chOff x="0" y="0"/>
            <a:chExt cx="5486400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Constant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349240" y="8188452"/>
            <a:ext cx="11795760" cy="850392"/>
            <a:chOff x="0" y="0"/>
            <a:chExt cx="15727680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name whose value never changes, like boilingPoint = 100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4080">
            <a:off x="1087745" y="903408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Why types matter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Why do we need different types?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17520"/>
            <a:ext cx="4937760" cy="1783080"/>
            <a:chOff x="0" y="0"/>
            <a:chExt cx="6583680" cy="2377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6583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400800" y="0"/>
                  </a:lnTo>
                  <a:cubicBezTo>
                    <a:pt x="6501765" y="0"/>
                    <a:pt x="6583680" y="81915"/>
                    <a:pt x="6583680" y="182880"/>
                  </a:cubicBezTo>
                  <a:lnTo>
                    <a:pt x="6583680" y="2194560"/>
                  </a:lnTo>
                  <a:cubicBezTo>
                    <a:pt x="6583680" y="2295525"/>
                    <a:pt x="6501765" y="2377440"/>
                    <a:pt x="64008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583680" cy="2386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01000001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6239907" y="3909060"/>
            <a:ext cx="779072" cy="23811"/>
          </a:xfrm>
          <a:prstGeom prst="line">
            <a:avLst/>
          </a:prstGeom>
          <a:ln cap="rnd" w="28575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7122795" y="3007995"/>
            <a:ext cx="4819650" cy="1802130"/>
            <a:chOff x="0" y="0"/>
            <a:chExt cx="6426200" cy="2402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262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6426200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6241415" y="0"/>
                  </a:lnTo>
                  <a:cubicBezTo>
                    <a:pt x="6343396" y="0"/>
                    <a:pt x="6426200" y="82804"/>
                    <a:pt x="6426200" y="184785"/>
                  </a:cubicBezTo>
                  <a:lnTo>
                    <a:pt x="6426200" y="2218055"/>
                  </a:lnTo>
                  <a:cubicBezTo>
                    <a:pt x="6426200" y="2320163"/>
                    <a:pt x="6343396" y="2402840"/>
                    <a:pt x="6241415" y="2402840"/>
                  </a:cubicBezTo>
                  <a:lnTo>
                    <a:pt x="184785" y="2402840"/>
                  </a:lnTo>
                  <a:cubicBezTo>
                    <a:pt x="82804" y="2402840"/>
                    <a:pt x="0" y="2320036"/>
                    <a:pt x="0" y="2218055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426200" cy="2402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read as an integer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65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34875" y="3007995"/>
            <a:ext cx="4819650" cy="1802130"/>
            <a:chOff x="0" y="0"/>
            <a:chExt cx="6426200" cy="2402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262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6426200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6241415" y="0"/>
                  </a:lnTo>
                  <a:cubicBezTo>
                    <a:pt x="6343396" y="0"/>
                    <a:pt x="6426200" y="82804"/>
                    <a:pt x="6426200" y="184785"/>
                  </a:cubicBezTo>
                  <a:lnTo>
                    <a:pt x="6426200" y="2218055"/>
                  </a:lnTo>
                  <a:cubicBezTo>
                    <a:pt x="6426200" y="2320163"/>
                    <a:pt x="6343396" y="2402840"/>
                    <a:pt x="6241415" y="2402840"/>
                  </a:cubicBezTo>
                  <a:lnTo>
                    <a:pt x="184785" y="2402840"/>
                  </a:lnTo>
                  <a:cubicBezTo>
                    <a:pt x="82804" y="2402840"/>
                    <a:pt x="0" y="2320036"/>
                    <a:pt x="0" y="2218055"/>
                  </a:cubicBezTo>
                  <a:close/>
                </a:path>
              </a:pathLst>
            </a:custGeom>
            <a:solidFill>
              <a:srgbClr val="CB6F34"/>
            </a:solidFill>
            <a:ln w="19050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426200" cy="2402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read as a character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5212080"/>
            <a:ext cx="3840480" cy="850392"/>
            <a:chOff x="0" y="0"/>
            <a:chExt cx="5120640" cy="1133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96" r="0" b="-379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12064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Meaning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74920" y="5212080"/>
            <a:ext cx="12070080" cy="850392"/>
            <a:chOff x="0" y="0"/>
            <a:chExt cx="16093440" cy="1133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0934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561" r="0" b="-22656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609344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type tells the machine how to read the bits.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4080">
            <a:off x="1087745" y="60988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097280" y="6144768"/>
            <a:ext cx="3840480" cy="850392"/>
            <a:chOff x="0" y="0"/>
            <a:chExt cx="5120640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96" r="0" b="-3799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12064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74920" y="6144768"/>
            <a:ext cx="12070080" cy="850392"/>
            <a:chOff x="0" y="0"/>
            <a:chExt cx="16093440" cy="11338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0934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561" r="0" b="-22656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609344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Numbers add. Text joins. Booleans decide.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4080">
            <a:off x="1087745" y="703154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097280" y="7077456"/>
            <a:ext cx="3840480" cy="850392"/>
            <a:chOff x="0" y="0"/>
            <a:chExt cx="5120640" cy="1133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96" r="0" b="-379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12064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Safety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74920" y="7077456"/>
            <a:ext cx="12070080" cy="850392"/>
            <a:chOff x="0" y="0"/>
            <a:chExt cx="16093440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0934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561" r="0" b="-22656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609344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Wrong-type mistakes are caught, not silently accepted.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rot="4080">
            <a:off x="1087745" y="7964234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097280" y="8229600"/>
            <a:ext cx="16088868" cy="1097280"/>
            <a:chOff x="0" y="0"/>
            <a:chExt cx="21451824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45182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280160"/>
                  </a:lnTo>
                  <a:cubicBezTo>
                    <a:pt x="21451824" y="1381125"/>
                    <a:pt x="21369908" y="1463040"/>
                    <a:pt x="21268944" y="1463040"/>
                  </a:cubicBezTo>
                  <a:lnTo>
                    <a:pt x="182880" y="1463040"/>
                  </a:lnTo>
                  <a:cubicBezTo>
                    <a:pt x="81915" y="1463040"/>
                    <a:pt x="0" y="1381125"/>
                    <a:pt x="0" y="128016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1451824" cy="1463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Each type has its own </a:t>
              </a:r>
              <a:r>
                <a:rPr lang="en-US" sz="3150" b="true">
                  <a:solidFill>
                    <a:srgbClr val="F0A070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operators.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538960" y="8394192"/>
            <a:ext cx="2400300" cy="768096"/>
            <a:chOff x="0" y="0"/>
            <a:chExt cx="320040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00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2004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017520" y="0"/>
                  </a:lnTo>
                  <a:cubicBezTo>
                    <a:pt x="3118485" y="0"/>
                    <a:pt x="3200400" y="81915"/>
                    <a:pt x="3200400" y="182880"/>
                  </a:cubicBezTo>
                  <a:lnTo>
                    <a:pt x="3200400" y="841248"/>
                  </a:lnTo>
                  <a:cubicBezTo>
                    <a:pt x="3200400" y="942213"/>
                    <a:pt x="3118485" y="1024128"/>
                    <a:pt x="3017520" y="1024128"/>
                  </a:cubicBezTo>
                  <a:lnTo>
                    <a:pt x="182880" y="1024128"/>
                  </a:lnTo>
                  <a:cubicBezTo>
                    <a:pt x="81915" y="1024128"/>
                    <a:pt x="0" y="942213"/>
                    <a:pt x="0" y="841248"/>
                  </a:cubicBezTo>
                  <a:close/>
                </a:path>
              </a:pathLst>
            </a:custGeom>
            <a:solidFill>
              <a:srgbClr val="CB6F34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3200400" cy="1014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  →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Operators and logic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Three kinds of operators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5093970" cy="3310890"/>
            <a:chOff x="0" y="0"/>
            <a:chExt cx="6791960" cy="4414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Arithmetic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200 + 100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Gives a number: 300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4155" y="3419475"/>
            <a:ext cx="5093970" cy="3310890"/>
            <a:chOff x="0" y="0"/>
            <a:chExt cx="6791960" cy="4414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Comparison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heat ≥ 100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Gives true or false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60555" y="3419475"/>
            <a:ext cx="5093970" cy="3310890"/>
            <a:chOff x="0" y="0"/>
            <a:chExt cx="6791960" cy="4414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Logic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boiling AND milk added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True only if both are true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Every decision boils down to true or false.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Operators are how the robot asks its questions.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Control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Three moves build every program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5093970" cy="3310890"/>
            <a:chOff x="0" y="0"/>
            <a:chExt cx="6791960" cy="4414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Sequence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Step 1, then 2, then 3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Do things in order.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4155" y="3419475"/>
            <a:ext cx="5093970" cy="3310890"/>
            <a:chOff x="0" y="0"/>
            <a:chExt cx="6791960" cy="4414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Choose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IF boiling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Add the tea. Otherwise keep heating.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60555" y="3419475"/>
            <a:ext cx="5093970" cy="3310890"/>
            <a:chOff x="0" y="0"/>
            <a:chExt cx="6791960" cy="4414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Repeat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WHILE not boiling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Wait 10 seconds, check again.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In order, choose, repeat.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Everything else is a mix of these three.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is an operator?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Operators and operands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50392"/>
            <a:chOff x="0" y="0"/>
            <a:chExt cx="548640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Operator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50392"/>
            <a:chOff x="0" y="0"/>
            <a:chExt cx="1572768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symbol that performs an action, such as +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931729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936492"/>
            <a:ext cx="4114800" cy="850392"/>
            <a:chOff x="0" y="0"/>
            <a:chExt cx="5486400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Operand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936492"/>
            <a:ext cx="11795760" cy="850392"/>
            <a:chOff x="0" y="0"/>
            <a:chExt cx="15727680" cy="1133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value the operator works on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78212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786884"/>
            <a:ext cx="4114800" cy="850392"/>
            <a:chOff x="0" y="0"/>
            <a:chExt cx="5486400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Expression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786884"/>
            <a:ext cx="11795760" cy="850392"/>
            <a:chOff x="0" y="0"/>
            <a:chExt cx="15727680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Operands and operators that produce a value: 200 + 100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632514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637276"/>
            <a:ext cx="4114800" cy="850392"/>
            <a:chOff x="0" y="0"/>
            <a:chExt cx="548640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Unary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637276"/>
            <a:ext cx="11795760" cy="850392"/>
            <a:chOff x="0" y="0"/>
            <a:chExt cx="15727680" cy="1133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operand: −5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48290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487668"/>
            <a:ext cx="4114800" cy="850392"/>
            <a:chOff x="0" y="0"/>
            <a:chExt cx="5486400" cy="1133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Binary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487668"/>
            <a:ext cx="11795760" cy="850392"/>
            <a:chOff x="0" y="0"/>
            <a:chExt cx="15727680" cy="1133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Two operands: 3 + 4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3332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338060"/>
            <a:ext cx="4114800" cy="850392"/>
            <a:chOff x="0" y="0"/>
            <a:chExt cx="5486400" cy="11338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Ternary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338060"/>
            <a:ext cx="11795760" cy="850392"/>
            <a:chOff x="0" y="0"/>
            <a:chExt cx="15727680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Three operands: condition ? a : b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183690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8188452"/>
            <a:ext cx="4114800" cy="850392"/>
            <a:chOff x="0" y="0"/>
            <a:chExt cx="5486400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Notation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349240" y="8188452"/>
            <a:ext cx="11795760" cy="850392"/>
            <a:chOff x="0" y="0"/>
            <a:chExt cx="15727680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Infix 3 + 4, prefix + 3 4, postfix 3 4 +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4080">
            <a:off x="1087745" y="903408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Families of operators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Eight families of operators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2948940"/>
          <a:ext cx="16021050" cy="6172200"/>
        </p:xfrm>
        <a:graphic>
          <a:graphicData uri="http://schemas.openxmlformats.org/drawingml/2006/table">
            <a:tbl>
              <a:tblPr/>
              <a:tblGrid>
                <a:gridCol w="4932459"/>
                <a:gridCol w="6699986"/>
                <a:gridCol w="4388604"/>
              </a:tblGrid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Family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Gives back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Arithmetic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+  −  ×  ÷  %  power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number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Assignment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=  +=  −=  ×=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Stores a value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Comparison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==  !=  &lt;  &gt;  &lt;=  &gt;=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 or 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Logical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AND  OR  NOT  XOR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 or 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Bitwise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&amp;  |  ^  ~  &lt;&lt;  &gt;&gt;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number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String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join, repeat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Text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Membership, identity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in, is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 or 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Conditional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condition ? a : 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Either value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Arithmetic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39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Arithmetic operators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2880360"/>
          <a:ext cx="16002000" cy="5029200"/>
        </p:xfrm>
        <a:graphic>
          <a:graphicData uri="http://schemas.openxmlformats.org/drawingml/2006/table">
            <a:tbl>
              <a:tblPr/>
              <a:tblGrid>
                <a:gridCol w="3153734"/>
                <a:gridCol w="4644042"/>
                <a:gridCol w="4508560"/>
                <a:gridCol w="3695664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Operator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Result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+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Add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7 + 2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9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−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Subtract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7 − 2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×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Multiply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7 ×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14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÷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Divide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7 ÷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3.5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div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Integer divide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7 div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mod  (%)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Remainder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7 mod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power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Exponent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2 power 3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7 cups shared by 2 guests: 3 each (div), 1 left over (mod).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Assignment operators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02000" cy="4933950"/>
        </p:xfrm>
        <a:graphic>
          <a:graphicData uri="http://schemas.openxmlformats.org/drawingml/2006/table">
            <a:tbl>
              <a:tblPr/>
              <a:tblGrid>
                <a:gridCol w="2611803"/>
                <a:gridCol w="4508560"/>
                <a:gridCol w="4508560"/>
                <a:gridCol w="4373077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Operator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Meaning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Same as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If sugar is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Store a value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=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+=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Add, then store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= sugar + 1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+= 1 →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−=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Subtract, then store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= sugar − 1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−= 1 → 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×=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Multiply, then store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= sugar ×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×= 2 →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÷=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Divide, then store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= sugar ÷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÷= 2 → 0.5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%=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Remainder, then store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= sugar mod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%= 2 →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43534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One = stores a value. Asking “are these equal?” needs ==.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Comparison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Comparison operators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02000" cy="4933950"/>
        </p:xfrm>
        <a:graphic>
          <a:graphicData uri="http://schemas.openxmlformats.org/drawingml/2006/table">
            <a:tbl>
              <a:tblPr/>
              <a:tblGrid>
                <a:gridCol w="2747286"/>
                <a:gridCol w="4644042"/>
                <a:gridCol w="5321455"/>
                <a:gridCol w="3289216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Operator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Meaning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 (heat = 90)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Result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==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Equal to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heat == 100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!=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Not equal to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heat != 100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&lt;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Less than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heat &lt; 100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&gt;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Greater than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heat &gt; 100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&lt;=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Less than or equal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heat &lt;= 90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&gt;=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Greater than or equal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heat &gt;= 100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43534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Floats: compare with a tolerance, not ==.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Logical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Logical operators and truth tables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0115550" cy="4095750"/>
        </p:xfrm>
        <a:graphic>
          <a:graphicData uri="http://schemas.openxmlformats.org/drawingml/2006/table">
            <a:tbl>
              <a:tblPr/>
              <a:tblGrid>
                <a:gridCol w="1647411"/>
                <a:gridCol w="1647411"/>
                <a:gridCol w="2318302"/>
                <a:gridCol w="2184124"/>
                <a:gridCol w="2318302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 AND 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 OR 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 XOR 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false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1795760" y="3017520"/>
            <a:ext cx="5486400" cy="43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B4561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NOT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B2A47"/>
                </a:solidFill>
                <a:latin typeface="Comic Sans"/>
                <a:ea typeface="Comic Sans"/>
                <a:cs typeface="Comic Sans"/>
                <a:sym typeface="Comic Sans"/>
              </a:rPr>
              <a:t>Flips the value. NOT true is false.</a:t>
            </a:r>
          </a:p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B4561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Short-circuit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B2A47"/>
                </a:solidFill>
                <a:latin typeface="Comic Sans"/>
                <a:ea typeface="Comic Sans"/>
                <a:cs typeface="Comic Sans"/>
                <a:sym typeface="Comic Sans"/>
              </a:rPr>
              <a:t>If A is false, A AND B never checks B. If A is true, A OR B never checks B.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97280" y="8229600"/>
            <a:ext cx="16088868" cy="1028700"/>
            <a:chOff x="0" y="0"/>
            <a:chExt cx="21451824" cy="137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4518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188720"/>
                  </a:lnTo>
                  <a:cubicBezTo>
                    <a:pt x="21451824" y="1289685"/>
                    <a:pt x="21369908" y="1371600"/>
                    <a:pt x="21268944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451824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AND needs both. OR needs one. XOR needs exactly one.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Bitwise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Bitwise operators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40100" cy="4933950"/>
        </p:xfrm>
        <a:graphic>
          <a:graphicData uri="http://schemas.openxmlformats.org/drawingml/2006/table">
            <a:tbl>
              <a:tblPr/>
              <a:tblGrid>
                <a:gridCol w="2753827"/>
                <a:gridCol w="3568658"/>
                <a:gridCol w="5469931"/>
                <a:gridCol w="4247684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Operator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5 = 0101, 3 = 0011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Result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&amp;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AND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0101 &amp; 0011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0001  (1)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|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0101 | 0011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0111  (7)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^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XOR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0101 ^ 0011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0110  (6)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~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~0101  (4 bits)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1010  (10)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&lt;&lt;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Shift left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0101 &lt;&lt;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1010  (10)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&gt;&gt;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Shift right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0101 &gt;&gt;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0010  (2)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29600"/>
            <a:ext cx="16088868" cy="1028700"/>
            <a:chOff x="0" y="0"/>
            <a:chExt cx="2145182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188720"/>
                  </a:lnTo>
                  <a:cubicBezTo>
                    <a:pt x="21451824" y="1289685"/>
                    <a:pt x="21369908" y="1371600"/>
                    <a:pt x="21268944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Bitwise works on the bits of a number. Logical works on true and false.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Precedence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Which operator goes first?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2811780"/>
          <a:ext cx="16021050" cy="5143500"/>
        </p:xfrm>
        <a:graphic>
          <a:graphicData uri="http://schemas.openxmlformats.org/drawingml/2006/table">
            <a:tbl>
              <a:tblPr/>
              <a:tblGrid>
                <a:gridCol w="1941259"/>
                <a:gridCol w="6564023"/>
                <a:gridCol w="7515768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Order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Operators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Parentheses  ( 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(2 + 3) × 4 = 20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Power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2 power 3 = 8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Unary + and −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−5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×  ÷  mod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6 ÷ 2 × 3 = 9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+  −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2 + 3 × 4 = 14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Comparison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1 + 1 ==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7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NOT, then AND, then 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NOT a AND 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Assignment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x = 5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161020"/>
            <a:ext cx="16088868" cy="1165860"/>
            <a:chOff x="0" y="0"/>
            <a:chExt cx="21451824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371600"/>
                  </a:lnTo>
                  <a:cubicBezTo>
                    <a:pt x="21451824" y="1472565"/>
                    <a:pt x="21369908" y="1554480"/>
                    <a:pt x="21268944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554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Same level runs left to right, except power and assignment. Unsure? Add parentheses.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Other operators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45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Other operators you will meet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50392"/>
            <a:chOff x="0" y="0"/>
            <a:chExt cx="548640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Join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50392"/>
            <a:chOff x="0" y="0"/>
            <a:chExt cx="1572768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“mas” + “ala” gives “masala”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931729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936492"/>
            <a:ext cx="4114800" cy="850392"/>
            <a:chOff x="0" y="0"/>
            <a:chExt cx="5486400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Repeat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936492"/>
            <a:ext cx="11795760" cy="850392"/>
            <a:chOff x="0" y="0"/>
            <a:chExt cx="15727680" cy="1133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“ha” × 3 gives “hahaha” in some languages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78212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786884"/>
            <a:ext cx="4114800" cy="850392"/>
            <a:chOff x="0" y="0"/>
            <a:chExt cx="5486400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Membership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786884"/>
            <a:ext cx="11795760" cy="850392"/>
            <a:chOff x="0" y="0"/>
            <a:chExt cx="15727680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“ginger” in ingredients gives true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632514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637276"/>
            <a:ext cx="4114800" cy="850392"/>
            <a:chOff x="0" y="0"/>
            <a:chExt cx="548640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Identity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637276"/>
            <a:ext cx="11795760" cy="850392"/>
            <a:chOff x="0" y="0"/>
            <a:chExt cx="15727680" cy="1133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Do two names point at the same object?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48290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487668"/>
            <a:ext cx="4114800" cy="850392"/>
            <a:chOff x="0" y="0"/>
            <a:chExt cx="5486400" cy="1133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Conditional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487668"/>
            <a:ext cx="11795760" cy="850392"/>
            <a:chOff x="0" y="0"/>
            <a:chExt cx="15727680" cy="1133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boiling ? “add tea” : “keep heating”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3332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338060"/>
            <a:ext cx="4114800" cy="850392"/>
            <a:chOff x="0" y="0"/>
            <a:chExt cx="5486400" cy="11338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Index, access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338060"/>
            <a:ext cx="11795760" cy="850392"/>
            <a:chOff x="0" y="0"/>
            <a:chExt cx="15727680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guests[0], order.sugar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183690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8188452"/>
            <a:ext cx="4114800" cy="850392"/>
            <a:chOff x="0" y="0"/>
            <a:chExt cx="5486400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4864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Call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349240" y="8188452"/>
            <a:ext cx="11795760" cy="850392"/>
            <a:chOff x="0" y="0"/>
            <a:chExt cx="15727680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727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276" r="0" b="-22027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572768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makeChai(3)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4080">
            <a:off x="1087745" y="903408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Control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Four ways to control the order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4857750"/>
        </p:xfrm>
        <a:graphic>
          <a:graphicData uri="http://schemas.openxmlformats.org/drawingml/2006/table">
            <a:tbl>
              <a:tblPr/>
              <a:tblGrid>
                <a:gridCol w="3293132"/>
                <a:gridCol w="4106995"/>
                <a:gridCol w="4513927"/>
                <a:gridCol w="4106995"/>
              </a:tblGrid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Structure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Idea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Keywords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FFFFFF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Chiya Analogy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Sequence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One step after another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none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Boil, then add tea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Selection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Choose a path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if, else, switch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If boiling, add tea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Iteration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Repeat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while, for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Wait while not boiling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Jump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Leave or skip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break, continue, return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Stop if no milk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Sequence, selection and iteration are enough to express any algorithm.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Control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Selection statements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4914900"/>
        </p:xfrm>
        <a:graphic>
          <a:graphicData uri="http://schemas.openxmlformats.org/drawingml/2006/table">
            <a:tbl>
              <a:tblPr/>
              <a:tblGrid>
                <a:gridCol w="3572823"/>
                <a:gridCol w="7107877"/>
                <a:gridCol w="5340350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Form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Meaning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if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Run only when the condition is true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if boiling: add tea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if … else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Choose one of two paths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else keep heating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else if chain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Test in order, first match wins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 sugar / one / two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nested if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decision inside a decision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if milk: if fresh: add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switch / case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Pick a branch by exact value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case size: small, large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Conditions are checked top to bottom. The first true one wins.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Control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Loops and jumps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03367"/>
            <a:chOff x="0" y="0"/>
            <a:chExt cx="5486400" cy="10711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while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03367"/>
            <a:chOff x="0" y="0"/>
            <a:chExt cx="15727680" cy="10711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Check first, repeat while the condition holds.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884705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889467"/>
            <a:ext cx="4114800" cy="803367"/>
            <a:chOff x="0" y="0"/>
            <a:chExt cx="5486400" cy="10711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do … while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889467"/>
            <a:ext cx="11795760" cy="803367"/>
            <a:chOff x="0" y="0"/>
            <a:chExt cx="15727680" cy="10711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Run once, then check. Runs at least once.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68807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692834"/>
            <a:ext cx="4114800" cy="803367"/>
            <a:chOff x="0" y="0"/>
            <a:chExt cx="5486400" cy="10711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692834"/>
            <a:ext cx="11795760" cy="803367"/>
            <a:chOff x="0" y="0"/>
            <a:chExt cx="15727680" cy="10711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Repeat a set number of times with a counter.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491439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496201"/>
            <a:ext cx="4114800" cy="803367"/>
            <a:chOff x="0" y="0"/>
            <a:chExt cx="5486400" cy="10711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for each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496201"/>
            <a:ext cx="11795760" cy="803367"/>
            <a:chOff x="0" y="0"/>
            <a:chExt cx="15727680" cy="10711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Visit every item in a collection.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29479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299559"/>
            <a:ext cx="4114800" cy="803367"/>
            <a:chOff x="0" y="0"/>
            <a:chExt cx="5486400" cy="10711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break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299559"/>
            <a:ext cx="11795760" cy="803367"/>
            <a:chOff x="0" y="0"/>
            <a:chExt cx="15727680" cy="10711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Leave the loop now.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098163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102926"/>
            <a:ext cx="4114800" cy="803367"/>
            <a:chOff x="0" y="0"/>
            <a:chExt cx="5486400" cy="10711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continue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102926"/>
            <a:ext cx="11795760" cy="803367"/>
            <a:chOff x="0" y="0"/>
            <a:chExt cx="15727680" cy="10711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Skip to the next round.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7901530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7906293"/>
            <a:ext cx="4114800" cy="803367"/>
            <a:chOff x="0" y="0"/>
            <a:chExt cx="5486400" cy="10711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return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349240" y="7906293"/>
            <a:ext cx="11795760" cy="803367"/>
            <a:chOff x="0" y="0"/>
            <a:chExt cx="15727680" cy="10711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Leave the function and hand back a value.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Functions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Write it once. Use it anywhere.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556635"/>
            <a:ext cx="4545330" cy="2899410"/>
            <a:chOff x="0" y="0"/>
            <a:chExt cx="6060440" cy="3865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604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06044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5839587" y="0"/>
                  </a:lnTo>
                  <a:cubicBezTo>
                    <a:pt x="5961634" y="0"/>
                    <a:pt x="6060440" y="98933"/>
                    <a:pt x="6060440" y="220853"/>
                  </a:cubicBezTo>
                  <a:lnTo>
                    <a:pt x="6060440" y="3645027"/>
                  </a:lnTo>
                  <a:cubicBezTo>
                    <a:pt x="6060440" y="3767074"/>
                    <a:pt x="5961507" y="3865880"/>
                    <a:pt x="5839587" y="3865880"/>
                  </a:cubicBezTo>
                  <a:lnTo>
                    <a:pt x="220853" y="3865880"/>
                  </a:lnTo>
                  <a:cubicBezTo>
                    <a:pt x="98933" y="3865880"/>
                    <a:pt x="0" y="3766947"/>
                    <a:pt x="0" y="3645027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060440" cy="387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INPUT</a:t>
              </a:r>
            </a:p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cups, sugar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you hand over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75907" y="3556635"/>
            <a:ext cx="4545330" cy="2899410"/>
            <a:chOff x="0" y="0"/>
            <a:chExt cx="6060440" cy="3865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604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06044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5839587" y="0"/>
                  </a:lnTo>
                  <a:cubicBezTo>
                    <a:pt x="5961634" y="0"/>
                    <a:pt x="6060440" y="98933"/>
                    <a:pt x="6060440" y="220853"/>
                  </a:cubicBezTo>
                  <a:lnTo>
                    <a:pt x="6060440" y="3645027"/>
                  </a:lnTo>
                  <a:cubicBezTo>
                    <a:pt x="6060440" y="3767074"/>
                    <a:pt x="5961507" y="3865880"/>
                    <a:pt x="5839587" y="3865880"/>
                  </a:cubicBezTo>
                  <a:lnTo>
                    <a:pt x="220853" y="3865880"/>
                  </a:lnTo>
                  <a:cubicBezTo>
                    <a:pt x="98933" y="3865880"/>
                    <a:pt x="0" y="3766947"/>
                    <a:pt x="0" y="3645027"/>
                  </a:cubicBezTo>
                  <a:close/>
                </a:path>
              </a:pathLst>
            </a:custGeom>
            <a:solidFill>
              <a:srgbClr val="CB6F34"/>
            </a:solidFill>
            <a:ln w="19050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060440" cy="387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FUNCTION</a:t>
              </a:r>
            </a:p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makeChiya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steps, written once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64059" y="3556635"/>
            <a:ext cx="4545330" cy="2899410"/>
            <a:chOff x="0" y="0"/>
            <a:chExt cx="6060440" cy="3865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604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06044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5839587" y="0"/>
                  </a:lnTo>
                  <a:cubicBezTo>
                    <a:pt x="5961634" y="0"/>
                    <a:pt x="6060440" y="98933"/>
                    <a:pt x="6060440" y="220853"/>
                  </a:cubicBezTo>
                  <a:lnTo>
                    <a:pt x="6060440" y="3645027"/>
                  </a:lnTo>
                  <a:cubicBezTo>
                    <a:pt x="6060440" y="3767074"/>
                    <a:pt x="5961507" y="3865880"/>
                    <a:pt x="5839587" y="3865880"/>
                  </a:cubicBezTo>
                  <a:lnTo>
                    <a:pt x="220853" y="3865880"/>
                  </a:lnTo>
                  <a:cubicBezTo>
                    <a:pt x="98933" y="3865880"/>
                    <a:pt x="0" y="3766947"/>
                    <a:pt x="0" y="3645027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060440" cy="387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OUTPUT</a:t>
              </a:r>
            </a:p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hot chiya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you get back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180780">
            <a:off x="5713733" y="4996815"/>
            <a:ext cx="724900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rot="180780">
            <a:off x="11501885" y="4996815"/>
            <a:ext cx="724900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function is a named recipe.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Call makeChai(3) and skip rewriting the steps.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Recursion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problem that holds a smaller copy of itself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693795"/>
            <a:ext cx="3448050" cy="2625090"/>
            <a:chOff x="0" y="0"/>
            <a:chExt cx="4597400" cy="3500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9740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59740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4376293" y="0"/>
                  </a:lnTo>
                  <a:cubicBezTo>
                    <a:pt x="4498467" y="0"/>
                    <a:pt x="4597400" y="98933"/>
                    <a:pt x="4597400" y="221107"/>
                  </a:cubicBezTo>
                  <a:lnTo>
                    <a:pt x="4597400" y="3279013"/>
                  </a:lnTo>
                  <a:cubicBezTo>
                    <a:pt x="4597400" y="3401060"/>
                    <a:pt x="4498467" y="3500120"/>
                    <a:pt x="437629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597400" cy="3509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makeCups(3)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make 1 cup, then makeCups(2)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80780">
            <a:off x="4547873" y="4996815"/>
            <a:ext cx="724900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5271135" y="3693795"/>
            <a:ext cx="3448050" cy="2625090"/>
            <a:chOff x="0" y="0"/>
            <a:chExt cx="4597400" cy="3500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9740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59740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4376293" y="0"/>
                  </a:lnTo>
                  <a:cubicBezTo>
                    <a:pt x="4498467" y="0"/>
                    <a:pt x="4597400" y="98933"/>
                    <a:pt x="4597400" y="221107"/>
                  </a:cubicBezTo>
                  <a:lnTo>
                    <a:pt x="4597400" y="3279013"/>
                  </a:lnTo>
                  <a:cubicBezTo>
                    <a:pt x="4597400" y="3401060"/>
                    <a:pt x="4498467" y="3500120"/>
                    <a:pt x="437629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597400" cy="3509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makeCups(2)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make 1 cup, then makeCups(1)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180780">
            <a:off x="8731253" y="4996815"/>
            <a:ext cx="724900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9454515" y="3693795"/>
            <a:ext cx="3448050" cy="2625090"/>
            <a:chOff x="0" y="0"/>
            <a:chExt cx="4597400" cy="3500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9740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59740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4376293" y="0"/>
                  </a:lnTo>
                  <a:cubicBezTo>
                    <a:pt x="4498467" y="0"/>
                    <a:pt x="4597400" y="98933"/>
                    <a:pt x="4597400" y="221107"/>
                  </a:cubicBezTo>
                  <a:lnTo>
                    <a:pt x="4597400" y="3279013"/>
                  </a:lnTo>
                  <a:cubicBezTo>
                    <a:pt x="4597400" y="3401060"/>
                    <a:pt x="4498467" y="3500120"/>
                    <a:pt x="437629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597400" cy="3509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makeCups(1)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make 1 cup, then makeCups(0)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180780">
            <a:off x="12914633" y="4996815"/>
            <a:ext cx="724900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3637895" y="3693795"/>
            <a:ext cx="3448050" cy="2625090"/>
            <a:chOff x="0" y="0"/>
            <a:chExt cx="4597400" cy="3500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97400" cy="3500120"/>
            </a:xfrm>
            <a:custGeom>
              <a:avLst/>
              <a:gdLst/>
              <a:ahLst/>
              <a:cxnLst/>
              <a:rect r="r" b="b" t="t" l="l"/>
              <a:pathLst>
                <a:path h="3500120" w="459740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4376293" y="0"/>
                  </a:lnTo>
                  <a:cubicBezTo>
                    <a:pt x="4498467" y="0"/>
                    <a:pt x="4597400" y="98933"/>
                    <a:pt x="4597400" y="221107"/>
                  </a:cubicBezTo>
                  <a:lnTo>
                    <a:pt x="4597400" y="3279013"/>
                  </a:lnTo>
                  <a:cubicBezTo>
                    <a:pt x="4597400" y="3401060"/>
                    <a:pt x="4498467" y="3500120"/>
                    <a:pt x="4376293" y="3500120"/>
                  </a:cubicBezTo>
                  <a:lnTo>
                    <a:pt x="221107" y="3500120"/>
                  </a:lnTo>
                  <a:cubicBezTo>
                    <a:pt x="98933" y="3500120"/>
                    <a:pt x="0" y="3401187"/>
                    <a:pt x="0" y="3279013"/>
                  </a:cubicBezTo>
                  <a:close/>
                </a:path>
              </a:pathLst>
            </a:custGeom>
            <a:solidFill>
              <a:srgbClr val="CB6F34"/>
            </a:solidFill>
            <a:ln w="19050" cap="sq">
              <a:solidFill>
                <a:srgbClr val="CB6F3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597400" cy="3509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makeCups(0)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Stop. Nothing left to make.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Every recursion needs a place to stop.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Programmers call it the base case.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Functions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Functions in theory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03367"/>
            <a:chOff x="0" y="0"/>
            <a:chExt cx="5486400" cy="10711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Function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03367"/>
            <a:chOff x="0" y="0"/>
            <a:chExt cx="15727680" cy="10711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named block of code that does one job.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884705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889467"/>
            <a:ext cx="4114800" cy="803367"/>
            <a:chOff x="0" y="0"/>
            <a:chExt cx="5486400" cy="10711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Definition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889467"/>
            <a:ext cx="11795760" cy="803367"/>
            <a:chOff x="0" y="0"/>
            <a:chExt cx="15727680" cy="10711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Writing the function once.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68807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692834"/>
            <a:ext cx="4114800" cy="803367"/>
            <a:chOff x="0" y="0"/>
            <a:chExt cx="5486400" cy="10711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692834"/>
            <a:ext cx="11795760" cy="803367"/>
            <a:chOff x="0" y="0"/>
            <a:chExt cx="15727680" cy="10711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Using it. The block runs.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491439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496201"/>
            <a:ext cx="4114800" cy="803367"/>
            <a:chOff x="0" y="0"/>
            <a:chExt cx="5486400" cy="10711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Parameter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496201"/>
            <a:ext cx="11795760" cy="803367"/>
            <a:chOff x="0" y="0"/>
            <a:chExt cx="15727680" cy="10711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placeholder name in the definition.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29479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299559"/>
            <a:ext cx="4114800" cy="803367"/>
            <a:chOff x="0" y="0"/>
            <a:chExt cx="5486400" cy="10711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Argument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299559"/>
            <a:ext cx="11795760" cy="803367"/>
            <a:chOff x="0" y="0"/>
            <a:chExt cx="15727680" cy="10711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real value passed in a call.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098163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102926"/>
            <a:ext cx="4114800" cy="803367"/>
            <a:chOff x="0" y="0"/>
            <a:chExt cx="5486400" cy="10711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Return value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102926"/>
            <a:ext cx="11795760" cy="803367"/>
            <a:chOff x="0" y="0"/>
            <a:chExt cx="15727680" cy="10711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the function hands back.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7901530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7906293"/>
            <a:ext cx="4114800" cy="803367"/>
            <a:chOff x="0" y="0"/>
            <a:chExt cx="5486400" cy="10711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Pure function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349240" y="7906293"/>
            <a:ext cx="11795760" cy="803367"/>
            <a:chOff x="0" y="0"/>
            <a:chExt cx="15727680" cy="10711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Same input, same output, no side effects.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Functions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Scope and the call stack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937260"/>
            <a:chOff x="0" y="0"/>
            <a:chExt cx="5486400" cy="1249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Local variable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937260"/>
            <a:chOff x="0" y="0"/>
            <a:chExt cx="15727680" cy="1249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Exists only inside the function that made it.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0185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023360"/>
            <a:ext cx="4114800" cy="937260"/>
            <a:chOff x="0" y="0"/>
            <a:chExt cx="5486400" cy="1249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Global variable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023360"/>
            <a:ext cx="11795760" cy="937260"/>
            <a:chOff x="0" y="0"/>
            <a:chExt cx="15727680" cy="1249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Visible everywhere. Easy to misuse.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9558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960620"/>
            <a:ext cx="4114800" cy="937260"/>
            <a:chOff x="0" y="0"/>
            <a:chExt cx="5486400" cy="1249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Call stack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960620"/>
            <a:ext cx="11795760" cy="937260"/>
            <a:chOff x="0" y="0"/>
            <a:chExt cx="15727680" cy="1249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Active calls, last in, first out.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8931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897880"/>
            <a:ext cx="4114800" cy="937260"/>
            <a:chOff x="0" y="0"/>
            <a:chExt cx="5486400" cy="1249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Stack frame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897880"/>
            <a:ext cx="11795760" cy="937260"/>
            <a:chOff x="0" y="0"/>
            <a:chExt cx="15727680" cy="1249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call’s parameters, locals and return spot.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8303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835140"/>
            <a:ext cx="4114800" cy="937260"/>
            <a:chOff x="0" y="0"/>
            <a:chExt cx="5486400" cy="1249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Returning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835140"/>
            <a:ext cx="11795760" cy="937260"/>
            <a:chOff x="0" y="0"/>
            <a:chExt cx="15727680" cy="1249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top frame is removed, control goes back.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7676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772400"/>
            <a:ext cx="4114800" cy="937260"/>
            <a:chOff x="0" y="0"/>
            <a:chExt cx="5486400" cy="1249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Stack overflow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772400"/>
            <a:ext cx="11795760" cy="937260"/>
            <a:chOff x="0" y="0"/>
            <a:chExt cx="15727680" cy="1249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Too many nested calls fill the stack.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Recursion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Recursion in theory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937260"/>
            <a:chOff x="0" y="0"/>
            <a:chExt cx="5486400" cy="1249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Recursion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937260"/>
            <a:chOff x="0" y="0"/>
            <a:chExt cx="15727680" cy="1249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function that calls itself on a smaller problem.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0185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023360"/>
            <a:ext cx="4114800" cy="937260"/>
            <a:chOff x="0" y="0"/>
            <a:chExt cx="5486400" cy="1249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Base case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023360"/>
            <a:ext cx="11795760" cy="937260"/>
            <a:chOff x="0" y="0"/>
            <a:chExt cx="15727680" cy="1249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Input simple enough to answer directly.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9558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960620"/>
            <a:ext cx="4114800" cy="937260"/>
            <a:chOff x="0" y="0"/>
            <a:chExt cx="5486400" cy="1249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Recursive case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960620"/>
            <a:ext cx="11795760" cy="937260"/>
            <a:chOff x="0" y="0"/>
            <a:chExt cx="15727680" cy="1249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Shrink the problem and call yourself.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8931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897880"/>
            <a:ext cx="4114800" cy="937260"/>
            <a:chOff x="0" y="0"/>
            <a:chExt cx="5486400" cy="1249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Progress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897880"/>
            <a:ext cx="11795760" cy="937260"/>
            <a:chOff x="0" y="0"/>
            <a:chExt cx="15727680" cy="1249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Each call must move toward the base case.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8303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835140"/>
            <a:ext cx="4114800" cy="937260"/>
            <a:chOff x="0" y="0"/>
            <a:chExt cx="5486400" cy="1249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Classic uses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835140"/>
            <a:ext cx="11795760" cy="937260"/>
            <a:chOff x="0" y="0"/>
            <a:chExt cx="15727680" cy="1249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Factorial, Fibonacci, trees, divide and conquer.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7676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772400"/>
            <a:ext cx="4114800" cy="937260"/>
            <a:chOff x="0" y="0"/>
            <a:chExt cx="5486400" cy="1249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Danger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772400"/>
            <a:ext cx="11795760" cy="937260"/>
            <a:chOff x="0" y="0"/>
            <a:chExt cx="15727680" cy="1249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No base case: the calls never end.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Recursion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Factorial in action: 3! = 6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4648200"/>
        </p:xfrm>
        <a:graphic>
          <a:graphicData uri="http://schemas.openxmlformats.org/drawingml/2006/table">
            <a:tbl>
              <a:tblPr/>
              <a:tblGrid>
                <a:gridCol w="4388604"/>
                <a:gridCol w="7107877"/>
                <a:gridCol w="4524568"/>
              </a:tblGrid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Call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Waits for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Returns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fact(3)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3 × fact(2)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fact(2)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2 × fact(1)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fact(1)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Base case: the answer is 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Calls stack up on the way down. Answers multiply on the way back up.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Data structures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Shape your data to fit the problem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5093970" cy="3310890"/>
            <a:chOff x="0" y="0"/>
            <a:chExt cx="6791960" cy="4414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List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Asha, Bikash, Sita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Many values, in order.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4155" y="3419475"/>
            <a:ext cx="5093970" cy="3310890"/>
            <a:chOff x="0" y="0"/>
            <a:chExt cx="6791960" cy="4414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Record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name: Asha, sugar: 2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thing, several named parts.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60555" y="3419475"/>
            <a:ext cx="5093970" cy="3310890"/>
            <a:chOff x="0" y="0"/>
            <a:chExt cx="6791960" cy="4414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List of records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whole class order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list where every item is a record.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Choose the right shape and the steps get easy.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Algorithms + data structures = programs.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Data structures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Why data structures?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22960"/>
            <a:chOff x="0" y="0"/>
            <a:chExt cx="54864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Data structure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22960"/>
            <a:chOff x="0" y="0"/>
            <a:chExt cx="157276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way of arranging data so operations are fast and simple.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9042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909060"/>
            <a:ext cx="4114800" cy="822960"/>
            <a:chOff x="0" y="0"/>
            <a:chExt cx="548640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Operations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909060"/>
            <a:ext cx="11795760" cy="822960"/>
            <a:chOff x="0" y="0"/>
            <a:chExt cx="157276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Insert, delete, search, traverse, update.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7272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732020"/>
            <a:ext cx="4114800" cy="822960"/>
            <a:chOff x="0" y="0"/>
            <a:chExt cx="548640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Trade-off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732020"/>
            <a:ext cx="11795760" cy="822960"/>
            <a:chOff x="0" y="0"/>
            <a:chExt cx="157276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Every structure is fast at some things and slow at others.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5502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554980"/>
            <a:ext cx="4114800" cy="822960"/>
            <a:chOff x="0" y="0"/>
            <a:chExt cx="54864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Abstract type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554980"/>
            <a:ext cx="11795760" cy="822960"/>
            <a:chOff x="0" y="0"/>
            <a:chExt cx="157276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What it does, not how it is built.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3731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377940"/>
            <a:ext cx="4114800" cy="822960"/>
            <a:chOff x="0" y="0"/>
            <a:chExt cx="548640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Implementation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377940"/>
            <a:ext cx="11795760" cy="822960"/>
            <a:chOff x="0" y="0"/>
            <a:chExt cx="157276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How it is really stored in memory.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1961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200900"/>
            <a:ext cx="4114800" cy="822960"/>
            <a:chOff x="0" y="0"/>
            <a:chExt cx="548640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Choice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200900"/>
            <a:ext cx="11795760" cy="822960"/>
            <a:chOff x="0" y="0"/>
            <a:chExt cx="1572768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Depends on which operation you do most.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0190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right structure can turn a slow program into a fast one.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Data structures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59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Linear structures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5429250"/>
        </p:xfrm>
        <a:graphic>
          <a:graphicData uri="http://schemas.openxmlformats.org/drawingml/2006/table">
            <a:tbl>
              <a:tblPr/>
              <a:tblGrid>
                <a:gridCol w="3572823"/>
                <a:gridCol w="6428059"/>
                <a:gridCol w="6020168"/>
              </a:tblGrid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Structure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Rule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Array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Fixed slots, access by index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shelf of numbered cups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Linked list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Nodes point to the next node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chain of guests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Stack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Last in, first out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pile of clean cups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Queue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First in, first out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Guests waiting for 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Data structures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Non-linear structures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5429250"/>
        </p:xfrm>
        <a:graphic>
          <a:graphicData uri="http://schemas.openxmlformats.org/drawingml/2006/table">
            <a:tbl>
              <a:tblPr/>
              <a:tblGrid>
                <a:gridCol w="3572823"/>
                <a:gridCol w="6699986"/>
                <a:gridCol w="5748241"/>
              </a:tblGrid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Structure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Rule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Tree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Parent and children, one root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Menu: drinks → hot → 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Graph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Nodes joined by edges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Map of tea shops and roads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Hash table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Key to value through a hash function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Guest name → order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Heap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Biggest or smallest always comes first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Most urgent order first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Data structures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Choosing a structure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40100" cy="4933950"/>
        </p:xfrm>
        <a:graphic>
          <a:graphicData uri="http://schemas.openxmlformats.org/drawingml/2006/table">
            <a:tbl>
              <a:tblPr/>
              <a:tblGrid>
                <a:gridCol w="8497614"/>
                <a:gridCol w="7542486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If you need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Use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Fast lookup by key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Hash table / dictionary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Items in order, add at the end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Array / list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First come, first served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Queue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Undo the last action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Stack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Parent and child relations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Tree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Things connected to each other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Graph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Ask first: what will I do most, search, add, or remove?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Errors, debugging, testing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Chiya gone wrong: three kinds of error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5093970" cy="3310890"/>
            <a:chOff x="0" y="0"/>
            <a:chExt cx="6791960" cy="4414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Syntax error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“Pour mlik”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robot cannot read the step.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4155" y="3419475"/>
            <a:ext cx="5093970" cy="3310890"/>
            <a:chOff x="0" y="0"/>
            <a:chExt cx="6791960" cy="4414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Runtime error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Add milk, none left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robot stops half way.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60555" y="3419475"/>
            <a:ext cx="5093970" cy="3310890"/>
            <a:chOff x="0" y="0"/>
            <a:chExt cx="6791960" cy="4414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Logic error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 sweet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Runs fine, wrong chai.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Debugging: find the step, fix it, test again.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Test the edges: 0 cups, no sugar, 100 cups.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Errors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Kinds of error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4648200"/>
        </p:xfrm>
        <a:graphic>
          <a:graphicData uri="http://schemas.openxmlformats.org/drawingml/2006/table">
            <a:tbl>
              <a:tblPr/>
              <a:tblGrid>
                <a:gridCol w="2750557"/>
                <a:gridCol w="3564420"/>
                <a:gridCol w="5327790"/>
                <a:gridCol w="4378283"/>
              </a:tblGrid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Error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Found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Cause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Syntax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Before running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Breaks the language’s rules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“Pour mlik”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Runtime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While running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An impossible action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Add milk, none left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Logic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Only by testing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Wrong idea, program runs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Sugar × 10 by mistake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Logic errors are the hardest. Nothing complains. The answer is just wrong.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Debugging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debugging process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937260"/>
            <a:chOff x="0" y="0"/>
            <a:chExt cx="5486400" cy="1249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1. Reproduce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937260"/>
            <a:chOff x="0" y="0"/>
            <a:chExt cx="15727680" cy="1249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Make the bug happen every time.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0185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023360"/>
            <a:ext cx="4114800" cy="937260"/>
            <a:chOff x="0" y="0"/>
            <a:chExt cx="5486400" cy="1249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2. Isolate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023360"/>
            <a:ext cx="11795760" cy="937260"/>
            <a:chOff x="0" y="0"/>
            <a:chExt cx="15727680" cy="1249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Shrink it to the smallest failing case.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9558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960620"/>
            <a:ext cx="4114800" cy="937260"/>
            <a:chOff x="0" y="0"/>
            <a:chExt cx="5486400" cy="1249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3. Find the cause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960620"/>
            <a:ext cx="11795760" cy="937260"/>
            <a:chOff x="0" y="0"/>
            <a:chExt cx="15727680" cy="1249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Make a guess, then check it. Do not assume.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8931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897880"/>
            <a:ext cx="4114800" cy="937260"/>
            <a:chOff x="0" y="0"/>
            <a:chExt cx="5486400" cy="1249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4. Fix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897880"/>
            <a:ext cx="11795760" cy="937260"/>
            <a:chOff x="0" y="0"/>
            <a:chExt cx="15727680" cy="1249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Change one thing at a time.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8303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835140"/>
            <a:ext cx="4114800" cy="937260"/>
            <a:chOff x="0" y="0"/>
            <a:chExt cx="5486400" cy="1249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5. Verify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835140"/>
            <a:ext cx="11795760" cy="937260"/>
            <a:chOff x="0" y="0"/>
            <a:chExt cx="15727680" cy="1249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Run the failing case again, then everything else.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7676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772400"/>
            <a:ext cx="4114800" cy="937260"/>
            <a:chOff x="0" y="0"/>
            <a:chExt cx="5486400" cy="1249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6. Prevent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772400"/>
            <a:ext cx="11795760" cy="937260"/>
            <a:chOff x="0" y="0"/>
            <a:chExt cx="15727680" cy="1249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Add a test so it never returns.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Debugging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Debugging techniques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937260"/>
            <a:chOff x="0" y="0"/>
            <a:chExt cx="5486400" cy="1249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Read the message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937260"/>
            <a:chOff x="0" y="0"/>
            <a:chExt cx="15727680" cy="1249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Errors and stack traces name the place and reason.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0185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023360"/>
            <a:ext cx="4114800" cy="937260"/>
            <a:chOff x="0" y="0"/>
            <a:chExt cx="5486400" cy="1249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Print or log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023360"/>
            <a:ext cx="11795760" cy="937260"/>
            <a:chOff x="0" y="0"/>
            <a:chExt cx="15727680" cy="1249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Show values while the program runs.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9558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960620"/>
            <a:ext cx="4114800" cy="937260"/>
            <a:chOff x="0" y="0"/>
            <a:chExt cx="5486400" cy="1249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Breakpoint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960620"/>
            <a:ext cx="11795760" cy="937260"/>
            <a:chOff x="0" y="0"/>
            <a:chExt cx="15727680" cy="1249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Pause the program and inspect variables.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8931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897880"/>
            <a:ext cx="4114800" cy="937260"/>
            <a:chOff x="0" y="0"/>
            <a:chExt cx="5486400" cy="1249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Step through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897880"/>
            <a:ext cx="11795760" cy="937260"/>
            <a:chOff x="0" y="0"/>
            <a:chExt cx="15727680" cy="1249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Run one line at a time and watch.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8303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835140"/>
            <a:ext cx="4114800" cy="937260"/>
            <a:chOff x="0" y="0"/>
            <a:chExt cx="5486400" cy="1249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Bisect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835140"/>
            <a:ext cx="11795760" cy="937260"/>
            <a:chOff x="0" y="0"/>
            <a:chExt cx="15727680" cy="1249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Halve the code or history to find where it broke.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7676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772400"/>
            <a:ext cx="4114800" cy="937260"/>
            <a:chOff x="0" y="0"/>
            <a:chExt cx="5486400" cy="1249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Rubber duck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772400"/>
            <a:ext cx="11795760" cy="937260"/>
            <a:chOff x="0" y="0"/>
            <a:chExt cx="15727680" cy="1249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Explain the code aloud, line by line.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Paradigms, efficiency, tools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Working is the start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5093970" cy="3310890"/>
            <a:chOff x="0" y="0"/>
            <a:chExt cx="6791960" cy="4414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Efficiency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Crush ginger while water heats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Same chai, less time.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4155" y="3419475"/>
            <a:ext cx="5093970" cy="3310890"/>
            <a:chOff x="0" y="0"/>
            <a:chExt cx="6791960" cy="4414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Paradigms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Same chiya, new mindset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Steps, objects, or small functions chained.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60555" y="3419475"/>
            <a:ext cx="5093970" cy="3310890"/>
            <a:chOff x="0" y="0"/>
            <a:chExt cx="6791960" cy="4414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1960" cy="4414520"/>
            </a:xfrm>
            <a:custGeom>
              <a:avLst/>
              <a:gdLst/>
              <a:ahLst/>
              <a:cxnLst/>
              <a:rect r="r" b="b" t="t" l="l"/>
              <a:pathLst>
                <a:path h="4414520" w="679196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571234" y="0"/>
                  </a:lnTo>
                  <a:cubicBezTo>
                    <a:pt x="6693153" y="0"/>
                    <a:pt x="6791960" y="98806"/>
                    <a:pt x="6791960" y="220726"/>
                  </a:cubicBezTo>
                  <a:lnTo>
                    <a:pt x="6791960" y="4193794"/>
                  </a:lnTo>
                  <a:cubicBezTo>
                    <a:pt x="6791960" y="4315714"/>
                    <a:pt x="6693153" y="4414520"/>
                    <a:pt x="657123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791960" cy="441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Tools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Kettle, timer, notebook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334155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Editor, debugger, version control.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132320"/>
            <a:ext cx="16088868" cy="1920240"/>
            <a:chOff x="0" y="0"/>
            <a:chExt cx="21451824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5182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2340864"/>
                  </a:lnTo>
                  <a:cubicBezTo>
                    <a:pt x="21451824" y="2462022"/>
                    <a:pt x="21353526" y="2560320"/>
                    <a:pt x="21232368" y="2560320"/>
                  </a:cubicBezTo>
                  <a:lnTo>
                    <a:pt x="219456" y="2560320"/>
                  </a:lnTo>
                  <a:cubicBezTo>
                    <a:pt x="98298" y="2560320"/>
                    <a:pt x="0" y="2462022"/>
                    <a:pt x="0" y="234086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1451824" cy="25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Good means faster, clearer, easier to change.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Efficiency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Time and space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937260"/>
            <a:chOff x="0" y="0"/>
            <a:chExt cx="5486400" cy="1249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Time complexity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937260"/>
            <a:chOff x="0" y="0"/>
            <a:chExt cx="15727680" cy="1249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How running time grows as the input grows.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0185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023360"/>
            <a:ext cx="4114800" cy="937260"/>
            <a:chOff x="0" y="0"/>
            <a:chExt cx="5486400" cy="1249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Space complexity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023360"/>
            <a:ext cx="11795760" cy="937260"/>
            <a:chOff x="0" y="0"/>
            <a:chExt cx="15727680" cy="1249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How memory use grows as the input grows.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9558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960620"/>
            <a:ext cx="4114800" cy="937260"/>
            <a:chOff x="0" y="0"/>
            <a:chExt cx="5486400" cy="1249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Input size 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960620"/>
            <a:ext cx="11795760" cy="937260"/>
            <a:chOff x="0" y="0"/>
            <a:chExt cx="15727680" cy="1249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number of items the algorithm handles.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8931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897880"/>
            <a:ext cx="4114800" cy="937260"/>
            <a:chOff x="0" y="0"/>
            <a:chExt cx="5486400" cy="1249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Worst case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897880"/>
            <a:ext cx="11795760" cy="937260"/>
            <a:chOff x="0" y="0"/>
            <a:chExt cx="15727680" cy="1249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slowest possible run. Gives a guarantee.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8303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835140"/>
            <a:ext cx="4114800" cy="937260"/>
            <a:chOff x="0" y="0"/>
            <a:chExt cx="5486400" cy="1249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Average case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835140"/>
            <a:ext cx="11795760" cy="937260"/>
            <a:chOff x="0" y="0"/>
            <a:chExt cx="15727680" cy="1249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typical run.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7676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772400"/>
            <a:ext cx="4114800" cy="937260"/>
            <a:chOff x="0" y="0"/>
            <a:chExt cx="5486400" cy="1249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Trade-off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772400"/>
            <a:ext cx="11795760" cy="937260"/>
            <a:chOff x="0" y="0"/>
            <a:chExt cx="15727680" cy="1249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You can often save time by spending memory.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9770" y="1430856"/>
            <a:ext cx="12081607" cy="7361430"/>
          </a:xfrm>
          <a:custGeom>
            <a:avLst/>
            <a:gdLst/>
            <a:ahLst/>
            <a:cxnLst/>
            <a:rect r="r" b="b" t="t" l="l"/>
            <a:pathLst>
              <a:path h="7361430" w="12081607">
                <a:moveTo>
                  <a:pt x="0" y="0"/>
                </a:moveTo>
                <a:lnTo>
                  <a:pt x="12081607" y="0"/>
                </a:lnTo>
                <a:lnTo>
                  <a:pt x="12081607" y="7361430"/>
                </a:lnTo>
                <a:lnTo>
                  <a:pt x="0" y="7361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Efficiency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Big-O notation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21050" cy="4933950"/>
        </p:xfrm>
        <a:graphic>
          <a:graphicData uri="http://schemas.openxmlformats.org/drawingml/2006/table">
            <a:tbl>
              <a:tblPr/>
              <a:tblGrid>
                <a:gridCol w="3164932"/>
                <a:gridCol w="3980714"/>
                <a:gridCol w="8875405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Class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O(1)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Constant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Read the label on the tea box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O(log n)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Logarithmic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Find a name in a sorted list by halving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O(n)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Linear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Serve n guests one by one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O(n log n)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Linearithmic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Sort the orders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O(n²)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Quadratic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Every guest compares with every guest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O(2ⁿ)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Exponential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Try every combination of extras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Big-O describes how cost grows, not how many seconds it takes.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Algorithms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69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Common strategies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40100" cy="5467350"/>
        </p:xfrm>
        <a:graphic>
          <a:graphicData uri="http://schemas.openxmlformats.org/drawingml/2006/table">
            <a:tbl>
              <a:tblPr/>
              <a:tblGrid>
                <a:gridCol w="4393823"/>
                <a:gridCol w="5482825"/>
                <a:gridCol w="6163452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Strategy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Idea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Example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Brute force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Try everything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Test every password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Divide and conquer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Split, solve, combine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Merge sort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Greedy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Take the best choice now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Give change with fewest coins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Dynamic programming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Save answers to sub-problems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Fibonacci with a table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Find an item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Linear or binary 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Sort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Put items in order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Bubble, merge, quick sort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Paradigms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70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Programming paradigms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02000" cy="4914900"/>
        </p:xfrm>
        <a:graphic>
          <a:graphicData uri="http://schemas.openxmlformats.org/drawingml/2006/table">
            <a:tbl>
              <a:tblPr/>
              <a:tblGrid>
                <a:gridCol w="3975980"/>
                <a:gridCol w="6013010"/>
                <a:gridCol w="6013010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Paradigm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Idea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Chai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Imperative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Commands that change state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Do step 1, then step 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Object-oriented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Objects with data and behaviour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 Cup object you can fill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Functional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Pure functions, no shared state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Ingredients in, chai out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Declarative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Say what, not how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“All orders with ginger”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Event-driven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React to events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Guest arrives, start boiling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 paradigm is a style of thinking. Most languages mix several.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Tools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71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Tools of the trade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803367"/>
            <a:chOff x="0" y="0"/>
            <a:chExt cx="5486400" cy="10711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Editor / IDE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803367"/>
            <a:chOff x="0" y="0"/>
            <a:chExt cx="15727680" cy="10711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Where you write and run code.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3884705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3889467"/>
            <a:ext cx="4114800" cy="803367"/>
            <a:chOff x="0" y="0"/>
            <a:chExt cx="5486400" cy="10711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Compiler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889467"/>
            <a:ext cx="11795760" cy="803367"/>
            <a:chOff x="0" y="0"/>
            <a:chExt cx="15727680" cy="10711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Translates the whole program to machine code first.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688072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692834"/>
            <a:ext cx="4114800" cy="803367"/>
            <a:chOff x="0" y="0"/>
            <a:chExt cx="5486400" cy="10711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Interpreter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692834"/>
            <a:ext cx="11795760" cy="803367"/>
            <a:chOff x="0" y="0"/>
            <a:chExt cx="15727680" cy="10711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Runs the program line by line.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491439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496201"/>
            <a:ext cx="4114800" cy="803367"/>
            <a:chOff x="0" y="0"/>
            <a:chExt cx="5486400" cy="10711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Debugger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496201"/>
            <a:ext cx="11795760" cy="803367"/>
            <a:chOff x="0" y="0"/>
            <a:chExt cx="15727680" cy="10711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Pauses and inspects a running program.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294796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299559"/>
            <a:ext cx="4114800" cy="803367"/>
            <a:chOff x="0" y="0"/>
            <a:chExt cx="5486400" cy="10711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Version control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299559"/>
            <a:ext cx="11795760" cy="803367"/>
            <a:chOff x="0" y="0"/>
            <a:chExt cx="15727680" cy="10711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Records every change so you can go back (Git).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098163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102926"/>
            <a:ext cx="4114800" cy="803367"/>
            <a:chOff x="0" y="0"/>
            <a:chExt cx="5486400" cy="10711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Package manager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102926"/>
            <a:ext cx="11795760" cy="803367"/>
            <a:chOff x="0" y="0"/>
            <a:chExt cx="15727680" cy="10711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Installs code other people wrote.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7901530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97280" y="7906293"/>
            <a:ext cx="4114800" cy="803367"/>
            <a:chOff x="0" y="0"/>
            <a:chExt cx="5486400" cy="10711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1071154"/>
            </a:xfrm>
            <a:custGeom>
              <a:avLst/>
              <a:gdLst/>
              <a:ahLst/>
              <a:cxnLst/>
              <a:rect r="r" b="b" t="t" l="l"/>
              <a:pathLst>
                <a:path h="107115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48640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Terminal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349240" y="7906293"/>
            <a:ext cx="11795760" cy="803367"/>
            <a:chOff x="0" y="0"/>
            <a:chExt cx="15727680" cy="10711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7276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097" r="0" b="-2360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5727680" cy="107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Type commands instead of clicking.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Code quality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72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Good code habits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937260"/>
            <a:chOff x="0" y="0"/>
            <a:chExt cx="5486400" cy="1249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Clear names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937260"/>
            <a:chOff x="0" y="0"/>
            <a:chExt cx="15727680" cy="1249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waterMl beats w.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0185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023360"/>
            <a:ext cx="4114800" cy="937260"/>
            <a:chOff x="0" y="0"/>
            <a:chExt cx="5486400" cy="1249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Small functions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023360"/>
            <a:ext cx="11795760" cy="937260"/>
            <a:chOff x="0" y="0"/>
            <a:chExt cx="15727680" cy="1249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One function, one job.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495585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4960620"/>
            <a:ext cx="4114800" cy="937260"/>
            <a:chOff x="0" y="0"/>
            <a:chExt cx="5486400" cy="1249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Named values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4960620"/>
            <a:ext cx="11795760" cy="937260"/>
            <a:chOff x="0" y="0"/>
            <a:chExt cx="15727680" cy="1249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Name 100 as boilingPoint.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589311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5897880"/>
            <a:ext cx="4114800" cy="937260"/>
            <a:chOff x="0" y="0"/>
            <a:chExt cx="5486400" cy="1249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Why comments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5897880"/>
            <a:ext cx="11795760" cy="937260"/>
            <a:chOff x="0" y="0"/>
            <a:chExt cx="15727680" cy="1249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code already shows what.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68303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6835140"/>
            <a:ext cx="4114800" cy="937260"/>
            <a:chOff x="0" y="0"/>
            <a:chExt cx="5486400" cy="1249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DRY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6835140"/>
            <a:ext cx="11795760" cy="937260"/>
            <a:chOff x="0" y="0"/>
            <a:chExt cx="15727680" cy="1249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Do not repeat yourself. Reuse.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77676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97280" y="7772400"/>
            <a:ext cx="4114800" cy="937260"/>
            <a:chOff x="0" y="0"/>
            <a:chExt cx="5486400" cy="1249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249680"/>
            </a:xfrm>
            <a:custGeom>
              <a:avLst/>
              <a:gdLst/>
              <a:ahLst/>
              <a:cxnLst/>
              <a:rect r="r" b="b" t="t" l="l"/>
              <a:pathLst>
                <a:path h="1249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44" r="0" b="-3554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8640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Refactor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349240" y="7772400"/>
            <a:ext cx="11795760" cy="937260"/>
            <a:chOff x="0" y="0"/>
            <a:chExt cx="15727680" cy="1249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7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249680"/>
                  </a:lnTo>
                  <a:lnTo>
                    <a:pt x="0" y="124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226" r="0" b="-1952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727680" cy="1249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Improve the structure, keep the behaviour.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4080">
            <a:off x="1087745" y="870489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Build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Putting it all together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27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2057400"/>
            <a:ext cx="16047720" cy="1097280"/>
            <a:chOff x="0" y="0"/>
            <a:chExt cx="2139696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968" r="0" b="-2349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Your turn: chiya for the whole class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3419475"/>
            <a:ext cx="3859530" cy="1733550"/>
            <a:chOff x="0" y="0"/>
            <a:chExt cx="5146040" cy="231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4924171" y="0"/>
                  </a:lnTo>
                  <a:cubicBezTo>
                    <a:pt x="5046726" y="0"/>
                    <a:pt x="5146040" y="99314"/>
                    <a:pt x="5146040" y="221869"/>
                  </a:cubicBezTo>
                  <a:lnTo>
                    <a:pt x="5146040" y="2089531"/>
                  </a:lnTo>
                  <a:cubicBezTo>
                    <a:pt x="5146040" y="2212086"/>
                    <a:pt x="5046726" y="2311400"/>
                    <a:pt x="4924171" y="2311400"/>
                  </a:cubicBezTo>
                  <a:lnTo>
                    <a:pt x="221869" y="2311400"/>
                  </a:lnTo>
                  <a:cubicBezTo>
                    <a:pt x="99314" y="2311400"/>
                    <a:pt x="0" y="2212086"/>
                    <a:pt x="0" y="2089531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146040" cy="232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THINK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359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Steps for one cup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61407" y="3419475"/>
            <a:ext cx="3859530" cy="1733550"/>
            <a:chOff x="0" y="0"/>
            <a:chExt cx="5146040" cy="2311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4924171" y="0"/>
                  </a:lnTo>
                  <a:cubicBezTo>
                    <a:pt x="5046726" y="0"/>
                    <a:pt x="5146040" y="99314"/>
                    <a:pt x="5146040" y="221869"/>
                  </a:cubicBezTo>
                  <a:lnTo>
                    <a:pt x="5146040" y="2089531"/>
                  </a:lnTo>
                  <a:cubicBezTo>
                    <a:pt x="5146040" y="2212086"/>
                    <a:pt x="5046726" y="2311400"/>
                    <a:pt x="4924171" y="2311400"/>
                  </a:cubicBezTo>
                  <a:lnTo>
                    <a:pt x="221869" y="2311400"/>
                  </a:lnTo>
                  <a:cubicBezTo>
                    <a:pt x="99314" y="2311400"/>
                    <a:pt x="0" y="2212086"/>
                    <a:pt x="0" y="2089531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146040" cy="232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STORE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359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water, sugar, boiling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35059" y="3419475"/>
            <a:ext cx="3859530" cy="1733550"/>
            <a:chOff x="0" y="0"/>
            <a:chExt cx="5146040" cy="2311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4924171" y="0"/>
                  </a:lnTo>
                  <a:cubicBezTo>
                    <a:pt x="5046726" y="0"/>
                    <a:pt x="5146040" y="99314"/>
                    <a:pt x="5146040" y="221869"/>
                  </a:cubicBezTo>
                  <a:lnTo>
                    <a:pt x="5146040" y="2089531"/>
                  </a:lnTo>
                  <a:cubicBezTo>
                    <a:pt x="5146040" y="2212086"/>
                    <a:pt x="5046726" y="2311400"/>
                    <a:pt x="4924171" y="2311400"/>
                  </a:cubicBezTo>
                  <a:lnTo>
                    <a:pt x="221869" y="2311400"/>
                  </a:lnTo>
                  <a:cubicBezTo>
                    <a:pt x="99314" y="2311400"/>
                    <a:pt x="0" y="2212086"/>
                    <a:pt x="0" y="2089531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46040" cy="232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DECIDE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359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IF boiling, add tea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08711" y="3419475"/>
            <a:ext cx="3859530" cy="1733550"/>
            <a:chOff x="0" y="0"/>
            <a:chExt cx="5146040" cy="2311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4924171" y="0"/>
                  </a:lnTo>
                  <a:cubicBezTo>
                    <a:pt x="5046726" y="0"/>
                    <a:pt x="5146040" y="99314"/>
                    <a:pt x="5146040" y="221869"/>
                  </a:cubicBezTo>
                  <a:lnTo>
                    <a:pt x="5146040" y="2089531"/>
                  </a:lnTo>
                  <a:cubicBezTo>
                    <a:pt x="5146040" y="2212086"/>
                    <a:pt x="5046726" y="2311400"/>
                    <a:pt x="4924171" y="2311400"/>
                  </a:cubicBezTo>
                  <a:lnTo>
                    <a:pt x="221869" y="2311400"/>
                  </a:lnTo>
                  <a:cubicBezTo>
                    <a:pt x="99314" y="2311400"/>
                    <a:pt x="0" y="2212086"/>
                    <a:pt x="0" y="2089531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146040" cy="232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REUSE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359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makeChai() per guest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145155" y="5408295"/>
            <a:ext cx="3859530" cy="1733550"/>
            <a:chOff x="0" y="0"/>
            <a:chExt cx="5146040" cy="2311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4924171" y="0"/>
                  </a:lnTo>
                  <a:cubicBezTo>
                    <a:pt x="5046726" y="0"/>
                    <a:pt x="5146040" y="99314"/>
                    <a:pt x="5146040" y="221869"/>
                  </a:cubicBezTo>
                  <a:lnTo>
                    <a:pt x="5146040" y="2089531"/>
                  </a:lnTo>
                  <a:cubicBezTo>
                    <a:pt x="5146040" y="2212086"/>
                    <a:pt x="5046726" y="2311400"/>
                    <a:pt x="4924171" y="2311400"/>
                  </a:cubicBezTo>
                  <a:lnTo>
                    <a:pt x="221869" y="2311400"/>
                  </a:lnTo>
                  <a:cubicBezTo>
                    <a:pt x="99314" y="2311400"/>
                    <a:pt x="0" y="2212086"/>
                    <a:pt x="0" y="2089531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46040" cy="232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ORGANIZE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359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List of guest orders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18807" y="5408295"/>
            <a:ext cx="3859530" cy="1733550"/>
            <a:chOff x="0" y="0"/>
            <a:chExt cx="5146040" cy="2311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4924171" y="0"/>
                  </a:lnTo>
                  <a:cubicBezTo>
                    <a:pt x="5046726" y="0"/>
                    <a:pt x="5146040" y="99314"/>
                    <a:pt x="5146040" y="221869"/>
                  </a:cubicBezTo>
                  <a:lnTo>
                    <a:pt x="5146040" y="2089531"/>
                  </a:lnTo>
                  <a:cubicBezTo>
                    <a:pt x="5146040" y="2212086"/>
                    <a:pt x="5046726" y="2311400"/>
                    <a:pt x="4924171" y="2311400"/>
                  </a:cubicBezTo>
                  <a:lnTo>
                    <a:pt x="221869" y="2311400"/>
                  </a:lnTo>
                  <a:cubicBezTo>
                    <a:pt x="99314" y="2311400"/>
                    <a:pt x="0" y="2212086"/>
                    <a:pt x="0" y="2089531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146040" cy="232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TRUST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359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Taste it, fix it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292459" y="5408295"/>
            <a:ext cx="3859530" cy="1733550"/>
            <a:chOff x="0" y="0"/>
            <a:chExt cx="5146040" cy="2311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460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1460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4924171" y="0"/>
                  </a:lnTo>
                  <a:cubicBezTo>
                    <a:pt x="5046726" y="0"/>
                    <a:pt x="5146040" y="99314"/>
                    <a:pt x="5146040" y="221869"/>
                  </a:cubicBezTo>
                  <a:lnTo>
                    <a:pt x="5146040" y="2089531"/>
                  </a:lnTo>
                  <a:cubicBezTo>
                    <a:pt x="5146040" y="2212086"/>
                    <a:pt x="5046726" y="2311400"/>
                    <a:pt x="4924171" y="2311400"/>
                  </a:cubicBezTo>
                  <a:lnTo>
                    <a:pt x="221869" y="2311400"/>
                  </a:lnTo>
                  <a:cubicBezTo>
                    <a:pt x="99314" y="2311400"/>
                    <a:pt x="0" y="2212086"/>
                    <a:pt x="0" y="2089531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146040" cy="232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IMPROVE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359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Heat and crush together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7280" y="7543800"/>
            <a:ext cx="16088868" cy="1645920"/>
            <a:chOff x="0" y="0"/>
            <a:chExt cx="21451824" cy="2194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51824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182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232368" y="0"/>
                  </a:lnTo>
                  <a:cubicBezTo>
                    <a:pt x="21353526" y="0"/>
                    <a:pt x="21451824" y="98298"/>
                    <a:pt x="21451824" y="219456"/>
                  </a:cubicBezTo>
                  <a:lnTo>
                    <a:pt x="21451824" y="1975104"/>
                  </a:lnTo>
                  <a:cubicBezTo>
                    <a:pt x="21451824" y="2096262"/>
                    <a:pt x="21353526" y="2194560"/>
                    <a:pt x="21232368" y="2194560"/>
                  </a:cubicBezTo>
                  <a:lnTo>
                    <a:pt x="219456" y="2194560"/>
                  </a:lnTo>
                  <a:cubicBezTo>
                    <a:pt x="98298" y="2194560"/>
                    <a:pt x="0" y="2096262"/>
                    <a:pt x="0" y="1975104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451824" cy="2194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Design the chiya program for our class.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D5DCE8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Use every stop. Pen and paper first.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Build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Life cycle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73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From idea to working program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97280" y="3017520"/>
          <a:ext cx="16040100" cy="4994729"/>
        </p:xfrm>
        <a:graphic>
          <a:graphicData uri="http://schemas.openxmlformats.org/drawingml/2006/table">
            <a:tbl>
              <a:tblPr/>
              <a:tblGrid>
                <a:gridCol w="4121572"/>
                <a:gridCol w="4938324"/>
                <a:gridCol w="6980204"/>
              </a:tblGrid>
              <a:tr h="7352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Phase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Question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Chiya for the class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5E"/>
                    </a:solidFill>
                  </a:tcPr>
                </a:tc>
              </a:tr>
              <a:tr h="7352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Requirements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What must it do?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Chiya for 30 students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Design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How will it work?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Steps, data, functions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Implementation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Write it.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Code the design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Testing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Does it work?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0 cups, no sugar, 100 cups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Deployment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Put it in use.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Serve the class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048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B2A47"/>
                          </a:solidFill>
                          <a:latin typeface="Comic Sans Bold"/>
                          <a:ea typeface="Comic Sans Bold"/>
                          <a:cs typeface="Comic Sans Bold"/>
                          <a:sym typeface="Comic Sans Bold"/>
                        </a:rPr>
                        <a:t>Maintenance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Fix and improve.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334155"/>
                          </a:solidFill>
                          <a:latin typeface="Comic Sans"/>
                          <a:ea typeface="Comic Sans"/>
                          <a:cs typeface="Comic Sans"/>
                          <a:sym typeface="Comic Sans"/>
                        </a:rPr>
                        <a:t>Add a ginger option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097280" y="8298180"/>
            <a:ext cx="16088868" cy="960120"/>
            <a:chOff x="0" y="0"/>
            <a:chExt cx="21451824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4518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268944" y="0"/>
                  </a:lnTo>
                  <a:cubicBezTo>
                    <a:pt x="21369908" y="0"/>
                    <a:pt x="21451824" y="81915"/>
                    <a:pt x="21451824" y="182880"/>
                  </a:cubicBezTo>
                  <a:lnTo>
                    <a:pt x="21451824" y="1097280"/>
                  </a:lnTo>
                  <a:cubicBezTo>
                    <a:pt x="21451824" y="1198245"/>
                    <a:pt x="21369908" y="1280160"/>
                    <a:pt x="21268944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1B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128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Real projects loop through these phases many times.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Build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Putting it together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74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The chiya program in pseudocode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7755" y="2939415"/>
            <a:ext cx="10443210" cy="6328410"/>
            <a:chOff x="0" y="0"/>
            <a:chExt cx="13924280" cy="8437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9242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1392428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3740892" y="0"/>
                  </a:lnTo>
                  <a:cubicBezTo>
                    <a:pt x="13842237" y="0"/>
                    <a:pt x="13924280" y="82169"/>
                    <a:pt x="13924280" y="183388"/>
                  </a:cubicBezTo>
                  <a:lnTo>
                    <a:pt x="13924280" y="8254492"/>
                  </a:lnTo>
                  <a:cubicBezTo>
                    <a:pt x="13924280" y="8355838"/>
                    <a:pt x="13842110" y="8437880"/>
                    <a:pt x="13740892" y="8437880"/>
                  </a:cubicBezTo>
                  <a:lnTo>
                    <a:pt x="183388" y="8437880"/>
                  </a:lnTo>
                  <a:cubicBezTo>
                    <a:pt x="82169" y="8437880"/>
                    <a:pt x="0" y="8355711"/>
                    <a:pt x="0" y="8254492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3924280" cy="8447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FUNCTION makeChai(cups, sugar)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water ← 200 × cups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milk ← 100 × cups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boiling ← false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WHILE NOT boiling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heat(water)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IF temperature ≥ 100 THEN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boiling ← true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ADD tea, sugar, milk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WAIT 2 minutes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RETURN strain(mixture)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guests ← [Asha, Bikash, Sita]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EACH guest IN guests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SERVE makeChai(1, guest.sugar)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070080" y="3154680"/>
            <a:ext cx="5212080" cy="58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B4561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Store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B2A47"/>
                </a:solidFill>
                <a:latin typeface="Comic Sans"/>
                <a:ea typeface="Comic Sans"/>
                <a:cs typeface="Comic Sans"/>
                <a:sym typeface="Comic Sans"/>
              </a:rPr>
              <a:t>variables and types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B4561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Decide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B2A47"/>
                </a:solidFill>
                <a:latin typeface="Comic Sans"/>
                <a:ea typeface="Comic Sans"/>
                <a:cs typeface="Comic Sans"/>
                <a:sym typeface="Comic Sans"/>
              </a:rPr>
              <a:t>WHILE and IF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B4561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Reuse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B2A47"/>
                </a:solidFill>
                <a:latin typeface="Comic Sans"/>
                <a:ea typeface="Comic Sans"/>
                <a:cs typeface="Comic Sans"/>
                <a:sym typeface="Comic Sans"/>
              </a:rPr>
              <a:t>makeChai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B4561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Organize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B2A47"/>
                </a:solidFill>
                <a:latin typeface="Comic Sans"/>
                <a:ea typeface="Comic Sans"/>
                <a:cs typeface="Comic Sans"/>
                <a:sym typeface="Comic Sans"/>
              </a:rPr>
              <a:t>the guests list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B4561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Trust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B2A47"/>
                </a:solidFill>
                <a:latin typeface="Comic Sans"/>
                <a:ea typeface="Comic Sans"/>
                <a:cs typeface="Comic Sans"/>
                <a:sym typeface="Comic Sans"/>
              </a:rPr>
              <a:t>test 0 cups, no sugar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02130"/>
            <a:chOff x="0" y="0"/>
            <a:chExt cx="2440879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02840"/>
            </a:xfrm>
            <a:custGeom>
              <a:avLst/>
              <a:gdLst/>
              <a:ahLst/>
              <a:cxnLst/>
              <a:rect r="r" b="b" t="t" l="l"/>
              <a:pathLst>
                <a:path h="240284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263A5E"/>
            </a:solidFill>
            <a:ln w="19050" cap="sq">
              <a:solidFill>
                <a:srgbClr val="263A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8229600" cy="960120"/>
            <a:chOff x="0" y="0"/>
            <a:chExt cx="10972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972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Build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15400" y="411480"/>
            <a:ext cx="8503920" cy="960120"/>
            <a:chOff x="0" y="0"/>
            <a:chExt cx="11338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3385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E6ECF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Keep going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953262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Programming 101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70680" y="953262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7777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75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920240"/>
            <a:ext cx="16047720" cy="960120"/>
            <a:chOff x="0" y="0"/>
            <a:chExt cx="213969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A47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Further reading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3086100"/>
            <a:ext cx="4114800" cy="1097280"/>
            <a:chOff x="0" y="0"/>
            <a:chExt cx="548640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486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Pólya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3086100"/>
            <a:ext cx="11795760" cy="1097280"/>
            <a:chOff x="0" y="0"/>
            <a:chExt cx="1572768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27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572768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How to Solve It (1945). Princeton University Press.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080">
            <a:off x="1087745" y="417861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7280" y="4183380"/>
            <a:ext cx="4114800" cy="1097280"/>
            <a:chOff x="0" y="0"/>
            <a:chExt cx="54864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Wirth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183380"/>
            <a:ext cx="11795760" cy="1097280"/>
            <a:chOff x="0" y="0"/>
            <a:chExt cx="1572768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727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72768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Algorithms + Data Structures = Programs (1976). Prentice-Hall.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080">
            <a:off x="1087745" y="527589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97280" y="5280660"/>
            <a:ext cx="4114800" cy="1097280"/>
            <a:chOff x="0" y="0"/>
            <a:chExt cx="548640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Knuth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9240" y="5280660"/>
            <a:ext cx="11795760" cy="1097280"/>
            <a:chOff x="0" y="0"/>
            <a:chExt cx="1572768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727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72768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The Art of Computer Programming, Vol. 1 (1997). Addison-Wesley.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080">
            <a:off x="1087745" y="637317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97280" y="6377940"/>
            <a:ext cx="4114800" cy="1097280"/>
            <a:chOff x="0" y="0"/>
            <a:chExt cx="548640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Abelson, Sussman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49240" y="6377940"/>
            <a:ext cx="11795760" cy="1097280"/>
            <a:chOff x="0" y="0"/>
            <a:chExt cx="1572768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7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572768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Structure and Interpretation of Computer Programs, 2nd ed. (1996). MIT Press.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080">
            <a:off x="1087745" y="7470457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97280" y="7475220"/>
            <a:ext cx="4114800" cy="1097280"/>
            <a:chOff x="0" y="0"/>
            <a:chExt cx="548640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B4561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Cormen et al.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49240" y="7475220"/>
            <a:ext cx="11795760" cy="1097280"/>
            <a:chOff x="0" y="0"/>
            <a:chExt cx="1572768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727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572768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B2A47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Introduction to Algorithms, 4th ed. (2022). MIT Press.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080">
            <a:off x="1087745" y="8567738"/>
            <a:ext cx="16066780" cy="0"/>
          </a:xfrm>
          <a:prstGeom prst="line">
            <a:avLst/>
          </a:prstGeom>
          <a:ln cap="rnd" w="9525">
            <a:solidFill>
              <a:srgbClr val="D5DC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42" y="0"/>
            <a:ext cx="18399579" cy="10471769"/>
          </a:xfrm>
          <a:custGeom>
            <a:avLst/>
            <a:gdLst/>
            <a:ahLst/>
            <a:cxnLst/>
            <a:rect r="r" b="b" t="t" l="l"/>
            <a:pathLst>
              <a:path h="10471769" w="18399579">
                <a:moveTo>
                  <a:pt x="0" y="0"/>
                </a:moveTo>
                <a:lnTo>
                  <a:pt x="18399579" y="0"/>
                </a:lnTo>
                <a:lnTo>
                  <a:pt x="18399579" y="10471769"/>
                </a:lnTo>
                <a:lnTo>
                  <a:pt x="0" y="1047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69" t="0" r="-986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DAHWpjSthCM</dc:identifier>
  <dcterms:modified xsi:type="dcterms:W3CDTF">2011-08-01T06:04:30Z</dcterms:modified>
  <cp:revision>1</cp:revision>
  <dc:title>A program for a machine that didn’t exist. About 100 years before the first electronic computers.</dc:title>
</cp:coreProperties>
</file>